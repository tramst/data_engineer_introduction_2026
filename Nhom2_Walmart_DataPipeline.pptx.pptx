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aytone One" charset="1" panose="00000500000000000000"/>
      <p:regular r:id="rId30"/>
    </p:embeddedFont>
    <p:embeddedFont>
      <p:font typeface="Calistoga" charset="1" panose="00000500000000000000"/>
      <p:regular r:id="rId31"/>
    </p:embeddedFont>
    <p:embeddedFont>
      <p:font typeface="Calibri (MS) Bold" charset="1" panose="020F0702030404030204"/>
      <p:regular r:id="rId32"/>
    </p:embeddedFont>
    <p:embeddedFont>
      <p:font typeface="Calibri (MS)" charset="1" panose="020F0502020204030204"/>
      <p:regular r:id="rId33"/>
    </p:embeddedFont>
    <p:embeddedFont>
      <p:font typeface="Rokkitt Bold" charset="1" panose="00000800000000000000"/>
      <p:regular r:id="rId35"/>
    </p:embeddedFont>
    <p:embeddedFont>
      <p:font typeface="Calibri (MS) Italics" charset="1" panose="020F05020202040A0204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2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fonts/font55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016757" y="1607718"/>
            <a:ext cx="14391646" cy="1471873"/>
            <a:chOff x="0" y="0"/>
            <a:chExt cx="2145792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5792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20"/>
                </a:lnSpc>
              </a:pPr>
              <a:r>
                <a:rPr lang="en-US" sz="6100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NHẬP MÔN KĨ THUẬT DỮ LIỆU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5860" y="3187620"/>
            <a:ext cx="16093440" cy="955673"/>
            <a:chOff x="0" y="0"/>
            <a:chExt cx="21457920" cy="12742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1274231"/>
            </a:xfrm>
            <a:custGeom>
              <a:avLst/>
              <a:gdLst/>
              <a:ahLst/>
              <a:cxnLst/>
              <a:rect r="r" b="b" t="t" l="l"/>
              <a:pathLst>
                <a:path h="1274231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74231"/>
                  </a:lnTo>
                  <a:lnTo>
                    <a:pt x="0" y="1274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285" r="0" b="-27596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457920" cy="127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EF7C8E"/>
                  </a:solidFill>
                  <a:latin typeface="Calistoga"/>
                  <a:ea typeface="Calistoga"/>
                  <a:cs typeface="Calistoga"/>
                  <a:sym typeface="Calistoga"/>
                </a:rPr>
                <a:t>Chủ đề: WALMART RETAIL DATA PIPELINE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85044" y="5256802"/>
            <a:ext cx="8520857" cy="3675393"/>
            <a:chOff x="0" y="0"/>
            <a:chExt cx="11201081" cy="48314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01120" cy="4831521"/>
            </a:xfrm>
            <a:custGeom>
              <a:avLst/>
              <a:gdLst/>
              <a:ahLst/>
              <a:cxnLst/>
              <a:rect r="r" b="b" t="t" l="l"/>
              <a:pathLst>
                <a:path h="4831521" w="11201120">
                  <a:moveTo>
                    <a:pt x="0" y="0"/>
                  </a:moveTo>
                  <a:lnTo>
                    <a:pt x="11201120" y="0"/>
                  </a:lnTo>
                  <a:lnTo>
                    <a:pt x="11201120" y="4831521"/>
                  </a:lnTo>
                  <a:lnTo>
                    <a:pt x="0" y="4831521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396594" y="5529143"/>
            <a:ext cx="7631972" cy="3249977"/>
            <a:chOff x="0" y="0"/>
            <a:chExt cx="9179183" cy="39088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79182" cy="3908837"/>
            </a:xfrm>
            <a:custGeom>
              <a:avLst/>
              <a:gdLst/>
              <a:ahLst/>
              <a:cxnLst/>
              <a:rect r="r" b="b" t="t" l="l"/>
              <a:pathLst>
                <a:path h="3908837" w="9179182">
                  <a:moveTo>
                    <a:pt x="0" y="0"/>
                  </a:moveTo>
                  <a:lnTo>
                    <a:pt x="9179182" y="0"/>
                  </a:lnTo>
                  <a:lnTo>
                    <a:pt x="9179182" y="3908837"/>
                  </a:lnTo>
                  <a:lnTo>
                    <a:pt x="0" y="3908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18" r="-75325" b="-3012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09550"/>
              <a:ext cx="9179183" cy="4118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GVH</a:t>
              </a: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D: TS. Lê Trọng Ngọc</a:t>
              </a:r>
            </a:p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Nhóm thực hiện: Nhóm 2</a:t>
              </a:r>
            </a:p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Mã lớp học phần: 420301541001</a:t>
              </a:r>
            </a:p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Tên lớp học phần: DHKHDL20A</a:t>
              </a:r>
            </a:p>
            <a:p>
              <a:pPr algn="l">
                <a:lnSpc>
                  <a:spcPts val="5207"/>
                </a:lnSpc>
              </a:pPr>
              <a:r>
                <a:rPr lang="en-US" sz="30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Dữ liệu: </a:t>
              </a:r>
              <a:r>
                <a:rPr lang="en-US" sz="3099">
                  <a:solidFill>
                    <a:srgbClr val="A8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kaggle.com – yasserh/walmart-dataset 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12697" y="10045703"/>
            <a:ext cx="18313403" cy="244859"/>
            <a:chOff x="0" y="0"/>
            <a:chExt cx="24417871" cy="3264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627447" y="400249"/>
            <a:ext cx="3478630" cy="991410"/>
          </a:xfrm>
          <a:custGeom>
            <a:avLst/>
            <a:gdLst/>
            <a:ahLst/>
            <a:cxnLst/>
            <a:rect r="r" b="b" t="t" l="l"/>
            <a:pathLst>
              <a:path h="991410" w="3478630">
                <a:moveTo>
                  <a:pt x="0" y="0"/>
                </a:moveTo>
                <a:lnTo>
                  <a:pt x="3478630" y="0"/>
                </a:lnTo>
                <a:lnTo>
                  <a:pt x="3478630" y="991410"/>
                </a:lnTo>
                <a:lnTo>
                  <a:pt x="0" y="991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39181" y="528133"/>
            <a:ext cx="9771754" cy="79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602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BỘ CÔNG THƯƠNG</a:t>
            </a:r>
          </a:p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602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TRƯỜNG ĐẠI HỌC CÔNG NGHIỆP THÀNH PHỐ HỒ CHÍ MINH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65860" y="4198183"/>
            <a:ext cx="16093440" cy="1330960"/>
            <a:chOff x="0" y="0"/>
            <a:chExt cx="21457920" cy="17746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457920" cy="1774613"/>
            </a:xfrm>
            <a:custGeom>
              <a:avLst/>
              <a:gdLst/>
              <a:ahLst/>
              <a:cxnLst/>
              <a:rect r="r" b="b" t="t" l="l"/>
              <a:pathLst>
                <a:path h="1774613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74613"/>
                  </a:lnTo>
                  <a:lnTo>
                    <a:pt x="0" y="17746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254" r="0" b="-1699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457920" cy="1774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EF7C8E"/>
                  </a:solidFill>
                  <a:latin typeface="Calistoga"/>
                  <a:ea typeface="Calistoga"/>
                  <a:cs typeface="Calistoga"/>
                  <a:sym typeface="Calistoga"/>
                </a:rPr>
                <a:t>(Pipeline Xử Lý Dữ Liệu Bán Lẻ Walmart)</a:t>
              </a:r>
            </a:p>
            <a:p>
              <a:pPr algn="ctr">
                <a:lnSpc>
                  <a:spcPts val="40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0045703"/>
            <a:ext cx="18313403" cy="244859"/>
            <a:chOff x="0" y="0"/>
            <a:chExt cx="24417871" cy="326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447" y="400249"/>
            <a:ext cx="3845526" cy="1095975"/>
          </a:xfrm>
          <a:custGeom>
            <a:avLst/>
            <a:gdLst/>
            <a:ahLst/>
            <a:cxnLst/>
            <a:rect r="r" b="b" t="t" l="l"/>
            <a:pathLst>
              <a:path h="1095975" w="3845526">
                <a:moveTo>
                  <a:pt x="0" y="0"/>
                </a:moveTo>
                <a:lnTo>
                  <a:pt x="3845525" y="0"/>
                </a:lnTo>
                <a:lnTo>
                  <a:pt x="3845525" y="1095975"/>
                </a:lnTo>
                <a:lnTo>
                  <a:pt x="0" y="1095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08058" y="558844"/>
            <a:ext cx="9676310" cy="77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577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BỘ CÔNG THƯƠNG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577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TRƯỜNG ĐẠI HỌC CÔNG NGHIỆP THÀNH PHỐ HỒ CHÍ MINH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86269" y="3464110"/>
            <a:ext cx="980185" cy="980185"/>
          </a:xfrm>
          <a:custGeom>
            <a:avLst/>
            <a:gdLst/>
            <a:ahLst/>
            <a:cxnLst/>
            <a:rect r="r" b="b" t="t" l="l"/>
            <a:pathLst>
              <a:path h="980185" w="980185">
                <a:moveTo>
                  <a:pt x="0" y="0"/>
                </a:moveTo>
                <a:lnTo>
                  <a:pt x="980185" y="0"/>
                </a:lnTo>
                <a:lnTo>
                  <a:pt x="980185" y="980185"/>
                </a:lnTo>
                <a:lnTo>
                  <a:pt x="0" y="980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66454" y="3474777"/>
            <a:ext cx="9637170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EF7C8E"/>
                </a:solidFill>
                <a:latin typeface="Rokkitt Bold"/>
                <a:ea typeface="Rokkitt Bold"/>
                <a:cs typeface="Rokkitt Bold"/>
                <a:sym typeface="Rokkitt Bold"/>
              </a:rPr>
              <a:t>Nguyễn Thị Trâm -  (Trưởng nhóm)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43160" y="5300345"/>
            <a:ext cx="3513808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EF7C8E"/>
                </a:solidFill>
                <a:latin typeface="Rokkitt Bold"/>
                <a:ea typeface="Rokkitt Bold"/>
                <a:cs typeface="Rokkitt Bold"/>
                <a:sym typeface="Rokkitt Bold"/>
              </a:rPr>
              <a:t>Lâm Khả Ái -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43160" y="7126605"/>
            <a:ext cx="7372631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EF7C8E"/>
                </a:solidFill>
                <a:latin typeface="Rokkitt Bold"/>
                <a:ea typeface="Rokkitt Bold"/>
                <a:cs typeface="Rokkitt Bold"/>
                <a:sym typeface="Rokkitt Bold"/>
              </a:rPr>
              <a:t>Trần Thị Yến Nhi - 24675011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386269" y="5289677"/>
            <a:ext cx="980185" cy="980185"/>
          </a:xfrm>
          <a:custGeom>
            <a:avLst/>
            <a:gdLst/>
            <a:ahLst/>
            <a:cxnLst/>
            <a:rect r="r" b="b" t="t" l="l"/>
            <a:pathLst>
              <a:path h="980185" w="980185">
                <a:moveTo>
                  <a:pt x="0" y="0"/>
                </a:moveTo>
                <a:lnTo>
                  <a:pt x="980185" y="0"/>
                </a:lnTo>
                <a:lnTo>
                  <a:pt x="980185" y="980186"/>
                </a:lnTo>
                <a:lnTo>
                  <a:pt x="0" y="980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72972" y="7117588"/>
            <a:ext cx="980185" cy="980185"/>
          </a:xfrm>
          <a:custGeom>
            <a:avLst/>
            <a:gdLst/>
            <a:ahLst/>
            <a:cxnLst/>
            <a:rect r="r" b="b" t="t" l="l"/>
            <a:pathLst>
              <a:path h="980185" w="980185">
                <a:moveTo>
                  <a:pt x="0" y="0"/>
                </a:moveTo>
                <a:lnTo>
                  <a:pt x="980186" y="0"/>
                </a:lnTo>
                <a:lnTo>
                  <a:pt x="980186" y="980185"/>
                </a:lnTo>
                <a:lnTo>
                  <a:pt x="0" y="980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13445" y="1851716"/>
            <a:ext cx="4061109" cy="11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CFFFF"/>
                </a:solidFill>
                <a:latin typeface="Rokkitt Bold"/>
                <a:ea typeface="Rokkitt Bold"/>
                <a:cs typeface="Rokkitt Bold"/>
                <a:sym typeface="Rokkitt Bold"/>
              </a:rPr>
              <a:t>NHÓM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5133337" cy="10312403"/>
            <a:chOff x="0" y="0"/>
            <a:chExt cx="6844449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44487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6844487">
                  <a:moveTo>
                    <a:pt x="0" y="0"/>
                  </a:moveTo>
                  <a:lnTo>
                    <a:pt x="6844487" y="0"/>
                  </a:lnTo>
                  <a:lnTo>
                    <a:pt x="6844487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2743200"/>
            <a:ext cx="4754880" cy="3894324"/>
            <a:chOff x="0" y="0"/>
            <a:chExt cx="6339840" cy="51924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39840" cy="5192432"/>
            </a:xfrm>
            <a:custGeom>
              <a:avLst/>
              <a:gdLst/>
              <a:ahLst/>
              <a:cxnLst/>
              <a:rect r="r" b="b" t="t" l="l"/>
              <a:pathLst>
                <a:path h="519243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192432"/>
                  </a:lnTo>
                  <a:lnTo>
                    <a:pt x="0" y="5192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695" t="0" r="-48695" b="60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6339840" cy="53543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239"/>
                </a:lnSpc>
              </a:pPr>
              <a:r>
                <a:rPr lang="en-US" sz="76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Nội dung thuyết trình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22343" y="993143"/>
            <a:ext cx="1031243" cy="903227"/>
            <a:chOff x="0" y="0"/>
            <a:chExt cx="1374991" cy="12043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35040" y="1005840"/>
            <a:ext cx="1005840" cy="877824"/>
            <a:chOff x="0" y="0"/>
            <a:chExt cx="1341120" cy="1170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0" y="914400"/>
            <a:ext cx="10424160" cy="1060704"/>
            <a:chOff x="0" y="0"/>
            <a:chExt cx="13898880" cy="14142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QUAN DỰ ÁN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22343" y="2236727"/>
            <a:ext cx="1031243" cy="903227"/>
            <a:chOff x="0" y="0"/>
            <a:chExt cx="1374991" cy="12043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035040" y="2249424"/>
            <a:ext cx="1005840" cy="877824"/>
            <a:chOff x="0" y="0"/>
            <a:chExt cx="1341120" cy="1170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0" y="2157984"/>
            <a:ext cx="10424160" cy="1060704"/>
            <a:chOff x="0" y="0"/>
            <a:chExt cx="1389888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TIẾN ĐỘ THỰC HIỆN CHI TIẾT(Phase 1–5)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22343" y="3480311"/>
            <a:ext cx="1031243" cy="903227"/>
            <a:chOff x="0" y="0"/>
            <a:chExt cx="1374991" cy="12043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035040" y="3493008"/>
            <a:ext cx="1005840" cy="877824"/>
            <a:chOff x="0" y="0"/>
            <a:chExt cx="1341120" cy="1170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15200" y="3401568"/>
            <a:ext cx="10424160" cy="1060704"/>
            <a:chOff x="0" y="0"/>
            <a:chExt cx="13898880" cy="14142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PHÂN TÍCH DỮ LIỆU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022343" y="4723895"/>
            <a:ext cx="1031243" cy="903227"/>
            <a:chOff x="0" y="0"/>
            <a:chExt cx="1374991" cy="12043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035040" y="4736592"/>
            <a:ext cx="1005840" cy="877824"/>
            <a:chOff x="0" y="0"/>
            <a:chExt cx="1341120" cy="11704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IV.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15200" y="4645152"/>
            <a:ext cx="10424160" cy="1060704"/>
            <a:chOff x="0" y="0"/>
            <a:chExt cx="13898880" cy="14142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MÔ HÌNH ML DỰ BÁO</a:t>
              </a: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(Phase 6)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022343" y="5967479"/>
            <a:ext cx="1031243" cy="903227"/>
            <a:chOff x="0" y="0"/>
            <a:chExt cx="1374991" cy="12043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035040" y="5980176"/>
            <a:ext cx="1005840" cy="877824"/>
            <a:chOff x="0" y="0"/>
            <a:chExt cx="1341120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15200" y="5888736"/>
            <a:ext cx="10424160" cy="1060704"/>
            <a:chOff x="0" y="0"/>
            <a:chExt cx="13898880" cy="14142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TỔNG HỢP VÀ FILE OUTPUT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022343" y="7211063"/>
            <a:ext cx="1031243" cy="903227"/>
            <a:chOff x="0" y="0"/>
            <a:chExt cx="1374991" cy="120430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035040" y="7223760"/>
            <a:ext cx="1005840" cy="877824"/>
            <a:chOff x="0" y="0"/>
            <a:chExt cx="1341120" cy="11704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15200" y="7132320"/>
            <a:ext cx="10424160" cy="1060704"/>
            <a:chOff x="0" y="0"/>
            <a:chExt cx="13898880" cy="14142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CÔNG CỤ VÀ KHÓ KHĂN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022343" y="8454647"/>
            <a:ext cx="1031243" cy="903227"/>
            <a:chOff x="0" y="0"/>
            <a:chExt cx="1374991" cy="120430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7502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375029">
                  <a:moveTo>
                    <a:pt x="0" y="0"/>
                  </a:moveTo>
                  <a:lnTo>
                    <a:pt x="1375029" y="0"/>
                  </a:lnTo>
                  <a:lnTo>
                    <a:pt x="137502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035040" y="8467344"/>
            <a:ext cx="1005840" cy="877824"/>
            <a:chOff x="0" y="0"/>
            <a:chExt cx="1341120" cy="11704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41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t="0" r="-61974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13411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VII.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315200" y="8375904"/>
            <a:ext cx="10424160" cy="1060704"/>
            <a:chOff x="0" y="0"/>
            <a:chExt cx="13898880" cy="14142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898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90" r="0" b="-14149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85725"/>
              <a:ext cx="13898880" cy="1499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 HOẠCH VÀ ĐÁNH GIÁ NHÓM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I. TỔNG QUAN DỰ ÁN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01585" y="3600417"/>
          <a:ext cx="17190720" cy="5917248"/>
        </p:xfrm>
        <a:graphic>
          <a:graphicData uri="http://schemas.openxmlformats.org/drawingml/2006/table">
            <a:tbl>
              <a:tblPr/>
              <a:tblGrid>
                <a:gridCol w="3301791"/>
                <a:gridCol w="13888929"/>
              </a:tblGrid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Hạng mục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Thông tin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Tên dự án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Walmart Retail Data Pipeline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Walmart Retail Dataset – kaggle.com/datasets/yasserh/walmart-dataset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Kích thước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6,435 dòng × 8 cột | 45 cửa hàng | 2010–2012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Các cột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Store, Date, Weekly_Sales, Holiday_Flag, Temperature, Fuel_Price, CPI, Unemployment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Công nghệ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Python, Pandas, NumPy, Matplotlib, Seaborn, SQLite3, Scikit-learn, Google Colab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37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Trạng thái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 hoàn thành – 7 phases đã xong 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601585" y="888997"/>
            <a:ext cx="2194560" cy="731520"/>
            <a:chOff x="0" y="0"/>
            <a:chExt cx="292608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6080" cy="975360"/>
            </a:xfrm>
            <a:custGeom>
              <a:avLst/>
              <a:gdLst/>
              <a:ahLst/>
              <a:cxnLst/>
              <a:rect r="r" b="b" t="t" l="l"/>
              <a:pathLst>
                <a:path h="9753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926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095333"/>
            <a:ext cx="1945643" cy="848363"/>
            <a:chOff x="0" y="0"/>
            <a:chExt cx="25941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41397" y="2108029"/>
            <a:ext cx="1920240" cy="822960"/>
            <a:chOff x="0" y="0"/>
            <a:chExt cx="256032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Thu thập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74343" y="2095333"/>
            <a:ext cx="381000" cy="822960"/>
            <a:chOff x="0" y="0"/>
            <a:chExt cx="5080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135" t="0" r="-21313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0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64868" y="2095333"/>
            <a:ext cx="1945643" cy="848363"/>
            <a:chOff x="0" y="0"/>
            <a:chExt cx="2594191" cy="1131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377565" y="2108029"/>
            <a:ext cx="1920240" cy="822960"/>
            <a:chOff x="0" y="0"/>
            <a:chExt cx="256032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Làm sạch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29561" y="2108029"/>
            <a:ext cx="384684" cy="822960"/>
            <a:chOff x="0" y="0"/>
            <a:chExt cx="512912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912">
                  <a:moveTo>
                    <a:pt x="0" y="0"/>
                  </a:moveTo>
                  <a:lnTo>
                    <a:pt x="512912" y="0"/>
                  </a:lnTo>
                  <a:lnTo>
                    <a:pt x="512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8826" t="0" r="-21013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512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742820" y="2095333"/>
            <a:ext cx="1945643" cy="848363"/>
            <a:chOff x="0" y="0"/>
            <a:chExt cx="2594191" cy="1131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755517" y="2108029"/>
            <a:ext cx="1920240" cy="822960"/>
            <a:chOff x="0" y="0"/>
            <a:chExt cx="256032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Biến đổi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75757" y="2108029"/>
            <a:ext cx="421573" cy="822960"/>
            <a:chOff x="0" y="0"/>
            <a:chExt cx="562097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2097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2097">
                  <a:moveTo>
                    <a:pt x="0" y="0"/>
                  </a:moveTo>
                  <a:lnTo>
                    <a:pt x="562097" y="0"/>
                  </a:lnTo>
                  <a:lnTo>
                    <a:pt x="562097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928" t="0" r="-18299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562097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88514" y="2069929"/>
            <a:ext cx="1945643" cy="848363"/>
            <a:chOff x="0" y="0"/>
            <a:chExt cx="2594191" cy="11311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101210" y="2082626"/>
            <a:ext cx="1920240" cy="822960"/>
            <a:chOff x="0" y="0"/>
            <a:chExt cx="25603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Lưu trữ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53207" y="2108029"/>
            <a:ext cx="381000" cy="822960"/>
            <a:chOff x="0" y="0"/>
            <a:chExt cx="5080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135" t="0" r="-21313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50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30387" y="2108029"/>
            <a:ext cx="1945643" cy="848363"/>
            <a:chOff x="0" y="0"/>
            <a:chExt cx="2594191" cy="11311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443084" y="2120726"/>
            <a:ext cx="1920240" cy="822960"/>
            <a:chOff x="0" y="0"/>
            <a:chExt cx="256032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Phân tích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95080" y="2108029"/>
            <a:ext cx="403774" cy="822960"/>
            <a:chOff x="0" y="0"/>
            <a:chExt cx="538366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8366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8366">
                  <a:moveTo>
                    <a:pt x="0" y="0"/>
                  </a:moveTo>
                  <a:lnTo>
                    <a:pt x="538366" y="0"/>
                  </a:lnTo>
                  <a:lnTo>
                    <a:pt x="53836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7534" t="0" r="-19547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538366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798855" y="2095323"/>
            <a:ext cx="1945643" cy="848363"/>
            <a:chOff x="0" y="0"/>
            <a:chExt cx="2594191" cy="11311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94229" cy="1131189"/>
            </a:xfrm>
            <a:custGeom>
              <a:avLst/>
              <a:gdLst/>
              <a:ahLst/>
              <a:cxnLst/>
              <a:rect r="r" b="b" t="t" l="l"/>
              <a:pathLst>
                <a:path h="1131189" w="2594229">
                  <a:moveTo>
                    <a:pt x="0" y="0"/>
                  </a:moveTo>
                  <a:lnTo>
                    <a:pt x="2594229" y="0"/>
                  </a:lnTo>
                  <a:lnTo>
                    <a:pt x="259422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811552" y="2108020"/>
            <a:ext cx="1920240" cy="822960"/>
            <a:chOff x="0" y="0"/>
            <a:chExt cx="256032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25603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Mô hình ML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839033" y="2133433"/>
            <a:ext cx="381000" cy="822960"/>
            <a:chOff x="0" y="0"/>
            <a:chExt cx="50800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135" t="0" r="-21313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50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220033" y="2095333"/>
            <a:ext cx="1637348" cy="848363"/>
            <a:chOff x="0" y="0"/>
            <a:chExt cx="2183130" cy="11311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83168" cy="1131189"/>
            </a:xfrm>
            <a:custGeom>
              <a:avLst/>
              <a:gdLst/>
              <a:ahLst/>
              <a:cxnLst/>
              <a:rect r="r" b="b" t="t" l="l"/>
              <a:pathLst>
                <a:path h="1131189" w="2183168">
                  <a:moveTo>
                    <a:pt x="0" y="0"/>
                  </a:moveTo>
                  <a:lnTo>
                    <a:pt x="2183168" y="0"/>
                  </a:lnTo>
                  <a:lnTo>
                    <a:pt x="2183168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2DC653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5230718" y="2108029"/>
            <a:ext cx="1615970" cy="822960"/>
            <a:chOff x="0" y="0"/>
            <a:chExt cx="2154626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54626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54626">
                  <a:moveTo>
                    <a:pt x="0" y="0"/>
                  </a:moveTo>
                  <a:lnTo>
                    <a:pt x="2154626" y="0"/>
                  </a:lnTo>
                  <a:lnTo>
                    <a:pt x="215462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6" t="0" r="-24755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2154626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Xuất KQ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quan tiến độ dự án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8823" y="1633223"/>
            <a:ext cx="2219963" cy="939803"/>
            <a:chOff x="0" y="0"/>
            <a:chExt cx="2959951" cy="1253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1645920"/>
            <a:ext cx="2194560" cy="914400"/>
            <a:chOff x="0" y="0"/>
            <a:chExt cx="292608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00400" y="1645920"/>
            <a:ext cx="10607040" cy="914400"/>
            <a:chOff x="0" y="0"/>
            <a:chExt cx="141427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Ingestion – Thu thập dữ liệu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69063" y="1816103"/>
            <a:ext cx="3317243" cy="574043"/>
            <a:chOff x="0" y="0"/>
            <a:chExt cx="4422991" cy="765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069063" y="1816103"/>
            <a:ext cx="3317243" cy="574043"/>
            <a:chOff x="0" y="0"/>
            <a:chExt cx="4422991" cy="765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990320" y="1645920"/>
            <a:ext cx="3474720" cy="914400"/>
            <a:chOff x="0" y="0"/>
            <a:chExt cx="463296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18823" y="2840231"/>
            <a:ext cx="2219963" cy="939803"/>
            <a:chOff x="0" y="0"/>
            <a:chExt cx="2959951" cy="1253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31520" y="2852928"/>
            <a:ext cx="2194560" cy="914400"/>
            <a:chOff x="0" y="0"/>
            <a:chExt cx="292608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00400" y="2852928"/>
            <a:ext cx="10607040" cy="914400"/>
            <a:chOff x="0" y="0"/>
            <a:chExt cx="1414272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Cleaning – Làm sạch dữ liệu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069063" y="3023111"/>
            <a:ext cx="3317243" cy="574043"/>
            <a:chOff x="0" y="0"/>
            <a:chExt cx="4422991" cy="7653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4069063" y="3023111"/>
            <a:ext cx="3317243" cy="574043"/>
            <a:chOff x="0" y="0"/>
            <a:chExt cx="4422991" cy="765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990320" y="2852928"/>
            <a:ext cx="3474720" cy="914400"/>
            <a:chOff x="0" y="0"/>
            <a:chExt cx="463296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8823" y="4047239"/>
            <a:ext cx="2219963" cy="939803"/>
            <a:chOff x="0" y="0"/>
            <a:chExt cx="2959951" cy="12530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4059936"/>
            <a:ext cx="2194560" cy="914400"/>
            <a:chOff x="0" y="0"/>
            <a:chExt cx="292608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200400" y="4059936"/>
            <a:ext cx="10607040" cy="914400"/>
            <a:chOff x="0" y="0"/>
            <a:chExt cx="1414272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Transformation – Feature Engineering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069063" y="4230119"/>
            <a:ext cx="3317243" cy="574043"/>
            <a:chOff x="0" y="0"/>
            <a:chExt cx="4422991" cy="7653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069063" y="4230119"/>
            <a:ext cx="3317243" cy="574043"/>
            <a:chOff x="0" y="0"/>
            <a:chExt cx="4422991" cy="7653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990320" y="4059936"/>
            <a:ext cx="3474720" cy="914400"/>
            <a:chOff x="0" y="0"/>
            <a:chExt cx="463296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8823" y="5254247"/>
            <a:ext cx="2219963" cy="939803"/>
            <a:chOff x="0" y="0"/>
            <a:chExt cx="2959951" cy="12530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31520" y="5266944"/>
            <a:ext cx="2194560" cy="914400"/>
            <a:chOff x="0" y="0"/>
            <a:chExt cx="292608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200400" y="5266944"/>
            <a:ext cx="10607040" cy="914400"/>
            <a:chOff x="0" y="0"/>
            <a:chExt cx="1414272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Storage – SQLite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069063" y="5437127"/>
            <a:ext cx="3317243" cy="574043"/>
            <a:chOff x="0" y="0"/>
            <a:chExt cx="4422991" cy="76539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069063" y="5437127"/>
            <a:ext cx="3317243" cy="574043"/>
            <a:chOff x="0" y="0"/>
            <a:chExt cx="4422991" cy="7653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990320" y="5266944"/>
            <a:ext cx="3474720" cy="914400"/>
            <a:chOff x="0" y="0"/>
            <a:chExt cx="463296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18823" y="6461255"/>
            <a:ext cx="2219963" cy="939803"/>
            <a:chOff x="0" y="0"/>
            <a:chExt cx="2959951" cy="12530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731520" y="6473952"/>
            <a:ext cx="2194560" cy="914400"/>
            <a:chOff x="0" y="0"/>
            <a:chExt cx="2926080" cy="1219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200400" y="6473952"/>
            <a:ext cx="10607040" cy="914400"/>
            <a:chOff x="0" y="0"/>
            <a:chExt cx="14142720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Analysis &amp; Visualization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069063" y="6644135"/>
            <a:ext cx="3317243" cy="574043"/>
            <a:chOff x="0" y="0"/>
            <a:chExt cx="4422991" cy="7653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4069063" y="6644135"/>
            <a:ext cx="3317243" cy="574043"/>
            <a:chOff x="0" y="0"/>
            <a:chExt cx="4422991" cy="7653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3990320" y="6473952"/>
            <a:ext cx="3474720" cy="914400"/>
            <a:chOff x="0" y="0"/>
            <a:chExt cx="4632960" cy="1219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18823" y="7668263"/>
            <a:ext cx="2219963" cy="939803"/>
            <a:chOff x="0" y="0"/>
            <a:chExt cx="2959951" cy="12530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731520" y="7680960"/>
            <a:ext cx="2194560" cy="914400"/>
            <a:chOff x="0" y="0"/>
            <a:chExt cx="2926080" cy="1219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6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200400" y="7680960"/>
            <a:ext cx="10607040" cy="914400"/>
            <a:chOff x="0" y="0"/>
            <a:chExt cx="14142720" cy="1219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 Modeling – Dự báo doanh thu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069063" y="7851143"/>
            <a:ext cx="3317243" cy="574043"/>
            <a:chOff x="0" y="0"/>
            <a:chExt cx="4422991" cy="76539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4069063" y="7851143"/>
            <a:ext cx="3317243" cy="574043"/>
            <a:chOff x="0" y="0"/>
            <a:chExt cx="4422991" cy="76539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3990320" y="7680960"/>
            <a:ext cx="3474720" cy="914400"/>
            <a:chOff x="0" y="0"/>
            <a:chExt cx="4632960" cy="1219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18823" y="8875271"/>
            <a:ext cx="2219963" cy="939803"/>
            <a:chOff x="0" y="0"/>
            <a:chExt cx="2959951" cy="125307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5998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731520" y="8887968"/>
            <a:ext cx="2194560" cy="914400"/>
            <a:chOff x="0" y="0"/>
            <a:chExt cx="2926080" cy="1219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76200"/>
              <a:ext cx="29260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7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200400" y="8887968"/>
            <a:ext cx="10607040" cy="914400"/>
            <a:chOff x="0" y="0"/>
            <a:chExt cx="14142720" cy="12192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85725"/>
              <a:ext cx="141427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Summary &amp; Export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4069063" y="9058151"/>
            <a:ext cx="3317243" cy="574043"/>
            <a:chOff x="0" y="0"/>
            <a:chExt cx="4422991" cy="76539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4069063" y="9058151"/>
            <a:ext cx="3317243" cy="574043"/>
            <a:chOff x="0" y="0"/>
            <a:chExt cx="4422991" cy="76539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423029" cy="765429"/>
            </a:xfrm>
            <a:custGeom>
              <a:avLst/>
              <a:gdLst/>
              <a:ahLst/>
              <a:cxnLst/>
              <a:rect r="r" b="b" t="t" l="l"/>
              <a:pathLst>
                <a:path h="765429" w="4423029">
                  <a:moveTo>
                    <a:pt x="0" y="0"/>
                  </a:moveTo>
                  <a:lnTo>
                    <a:pt x="4423029" y="0"/>
                  </a:lnTo>
                  <a:lnTo>
                    <a:pt x="4423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D1D5DB"/>
            </a:solidFill>
            <a:ln w="25400" cap="sq">
              <a:solidFill>
                <a:srgbClr val="4A7A8A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990320" y="8887968"/>
            <a:ext cx="3474720" cy="914400"/>
            <a:chOff x="0" y="0"/>
            <a:chExt cx="4632960" cy="12192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1D5DB">
                <a:alpha val="0"/>
              </a:srgbClr>
            </a:solid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66675"/>
              <a:ext cx="4632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II. TIẾN ĐỘ THỰC HIỆN CHI TIẾT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0326" y="2519362"/>
            <a:ext cx="9335379" cy="980719"/>
            <a:chOff x="0" y="0"/>
            <a:chExt cx="9707680" cy="10198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07718" cy="1019869"/>
            </a:xfrm>
            <a:custGeom>
              <a:avLst/>
              <a:gdLst/>
              <a:ahLst/>
              <a:cxnLst/>
              <a:rect r="r" b="b" t="t" l="l"/>
              <a:pathLst>
                <a:path h="1019869" w="9707718">
                  <a:moveTo>
                    <a:pt x="0" y="0"/>
                  </a:moveTo>
                  <a:lnTo>
                    <a:pt x="9707718" y="0"/>
                  </a:lnTo>
                  <a:lnTo>
                    <a:pt x="9707718" y="1019869"/>
                  </a:lnTo>
                  <a:lnTo>
                    <a:pt x="0" y="1019869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40326" y="2435150"/>
            <a:ext cx="9335379" cy="960074"/>
            <a:chOff x="0" y="0"/>
            <a:chExt cx="9893205" cy="10174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93205" cy="1017442"/>
            </a:xfrm>
            <a:custGeom>
              <a:avLst/>
              <a:gdLst/>
              <a:ahLst/>
              <a:cxnLst/>
              <a:rect r="r" b="b" t="t" l="l"/>
              <a:pathLst>
                <a:path h="1017442" w="9893205">
                  <a:moveTo>
                    <a:pt x="0" y="0"/>
                  </a:moveTo>
                  <a:lnTo>
                    <a:pt x="9893205" y="0"/>
                  </a:lnTo>
                  <a:lnTo>
                    <a:pt x="9893205" y="1017442"/>
                  </a:lnTo>
                  <a:lnTo>
                    <a:pt x="0" y="10174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77" r="-5983" b="-1547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9893205" cy="1103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 — Data Ingestion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440326" y="3294620"/>
          <a:ext cx="9335379" cy="5173029"/>
        </p:xfrm>
        <a:graphic>
          <a:graphicData uri="http://schemas.openxmlformats.org/drawingml/2006/table">
            <a:tbl>
              <a:tblPr/>
              <a:tblGrid>
                <a:gridCol w="4774130"/>
                <a:gridCol w="4561248"/>
              </a:tblGrid>
              <a:tr h="820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5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Nhiệm vụ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5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Kết quả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022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5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pd.read_csv() – Đọc dữ liệu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6,435 dòng × 8 cột, ~350 KB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8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5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df.info() – Kiểm tra schema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5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Date dạng object, cần chuyển datetime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6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5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df.describe() – Thống kê mô tả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5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phối 5 biến số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9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5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Xác định vấn đề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5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 stores, Holiday_Flag chỉ 0/1, Date cần chuẩn hoá</a:t>
                      </a:r>
                      <a:endParaRPr lang="en-US" sz="1100"/>
                    </a:p>
                  </a:txBody>
                  <a:tcPr marL="117244" marR="117244" marT="117244" marB="117244" anchor="t">
                    <a:lnL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4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0226456" y="2519362"/>
            <a:ext cx="7596361" cy="775258"/>
            <a:chOff x="0" y="0"/>
            <a:chExt cx="9652094" cy="9850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52133" cy="985097"/>
            </a:xfrm>
            <a:custGeom>
              <a:avLst/>
              <a:gdLst/>
              <a:ahLst/>
              <a:cxnLst/>
              <a:rect r="r" b="b" t="t" l="l"/>
              <a:pathLst>
                <a:path h="985097" w="9652133">
                  <a:moveTo>
                    <a:pt x="0" y="0"/>
                  </a:moveTo>
                  <a:lnTo>
                    <a:pt x="9652133" y="0"/>
                  </a:lnTo>
                  <a:lnTo>
                    <a:pt x="9652133" y="985097"/>
                  </a:lnTo>
                  <a:lnTo>
                    <a:pt x="0" y="985097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226456" y="2535754"/>
            <a:ext cx="7596361" cy="758866"/>
            <a:chOff x="0" y="0"/>
            <a:chExt cx="9652094" cy="9642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52094" cy="964231"/>
            </a:xfrm>
            <a:custGeom>
              <a:avLst/>
              <a:gdLst/>
              <a:ahLst/>
              <a:cxnLst/>
              <a:rect r="r" b="b" t="t" l="l"/>
              <a:pathLst>
                <a:path h="964231" w="9652094">
                  <a:moveTo>
                    <a:pt x="0" y="0"/>
                  </a:moveTo>
                  <a:lnTo>
                    <a:pt x="9652094" y="0"/>
                  </a:lnTo>
                  <a:lnTo>
                    <a:pt x="9652094" y="964231"/>
                  </a:lnTo>
                  <a:lnTo>
                    <a:pt x="0" y="964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982" r="-8630" b="-1687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652094" cy="1030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 — Data Cleaning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226456" y="3294620"/>
          <a:ext cx="7596361" cy="5906274"/>
        </p:xfrm>
        <a:graphic>
          <a:graphicData uri="http://schemas.openxmlformats.org/drawingml/2006/table">
            <a:tbl>
              <a:tblPr/>
              <a:tblGrid>
                <a:gridCol w="3907838"/>
                <a:gridCol w="3688523"/>
              </a:tblGrid>
              <a:tr h="8075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Bước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Kết quả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842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Missing Values (median)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gia tri null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9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Duplicates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Không có dòng trùng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15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Types (datetime)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Date → datetime64; int/float đúng kiểu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77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Business Rules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Loại bỏ doanh thu âm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3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Outliers (IQR)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Phát hiện; giữ lại vì có ý nghĩa thực tế</a:t>
                      </a:r>
                      <a:endParaRPr lang="en-US" sz="1100"/>
                    </a:p>
                  </a:txBody>
                  <a:tcPr marL="95953" marR="95953" marT="95953" marB="95953" anchor="t">
                    <a:lnL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6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II. TIẾN ĐỘ THỰC HIỆN CHI TIẾT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31674"/>
            <a:ext cx="8290739" cy="824889"/>
            <a:chOff x="0" y="0"/>
            <a:chExt cx="18467546" cy="1837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67584" cy="1837471"/>
            </a:xfrm>
            <a:custGeom>
              <a:avLst/>
              <a:gdLst/>
              <a:ahLst/>
              <a:cxnLst/>
              <a:rect r="r" b="b" t="t" l="l"/>
              <a:pathLst>
                <a:path h="1837471" w="18467584">
                  <a:moveTo>
                    <a:pt x="0" y="0"/>
                  </a:moveTo>
                  <a:lnTo>
                    <a:pt x="18467584" y="0"/>
                  </a:lnTo>
                  <a:lnTo>
                    <a:pt x="18467584" y="1837471"/>
                  </a:lnTo>
                  <a:lnTo>
                    <a:pt x="0" y="183747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2230" y="1833602"/>
            <a:ext cx="6969318" cy="822960"/>
            <a:chOff x="0" y="0"/>
            <a:chExt cx="929242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92423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92423">
                  <a:moveTo>
                    <a:pt x="0" y="0"/>
                  </a:moveTo>
                  <a:lnTo>
                    <a:pt x="9292423" y="0"/>
                  </a:lnTo>
                  <a:lnTo>
                    <a:pt x="9292423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-12835" b="-1361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9292424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 — FEATURE ENGINEERING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31520" y="2656562"/>
          <a:ext cx="8290739" cy="6601738"/>
        </p:xfrm>
        <a:graphic>
          <a:graphicData uri="http://schemas.openxmlformats.org/drawingml/2006/table">
            <a:tbl>
              <a:tblPr/>
              <a:tblGrid>
                <a:gridCol w="2849776"/>
                <a:gridCol w="5440962"/>
              </a:tblGrid>
              <a:tr h="8335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Feature mới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Ý nghĩa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1917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ear, Month, Week, Quarter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 tích theo chiều thời gian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Tí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nh thời vụ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Store_Tier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loại hiệu suất cửa hàng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Sales_MA4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Trung bình động 4 tuần – loại nhiễu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Sales_WoW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Tăng trưởng tuần so tuần trước (%)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ales_Lag1, Lag4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tures cho mô hình ML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*_norm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Chuẩn hoá về [0,1]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9594157" y="1831674"/>
            <a:ext cx="8290739" cy="824889"/>
            <a:chOff x="0" y="0"/>
            <a:chExt cx="18467546" cy="18374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67584" cy="1837471"/>
            </a:xfrm>
            <a:custGeom>
              <a:avLst/>
              <a:gdLst/>
              <a:ahLst/>
              <a:cxnLst/>
              <a:rect r="r" b="b" t="t" l="l"/>
              <a:pathLst>
                <a:path h="1837471" w="18467584">
                  <a:moveTo>
                    <a:pt x="0" y="0"/>
                  </a:moveTo>
                  <a:lnTo>
                    <a:pt x="18467584" y="0"/>
                  </a:lnTo>
                  <a:lnTo>
                    <a:pt x="18467584" y="1837471"/>
                  </a:lnTo>
                  <a:lnTo>
                    <a:pt x="0" y="183747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254867" y="1833602"/>
            <a:ext cx="6969318" cy="822960"/>
            <a:chOff x="0" y="0"/>
            <a:chExt cx="9292424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92423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92423">
                  <a:moveTo>
                    <a:pt x="0" y="0"/>
                  </a:moveTo>
                  <a:lnTo>
                    <a:pt x="9292423" y="0"/>
                  </a:lnTo>
                  <a:lnTo>
                    <a:pt x="9292423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-12835" b="-1361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9292424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 — LƯU TRỮ DỮ LIỆU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9594157" y="2656562"/>
          <a:ext cx="8290739" cy="5172988"/>
        </p:xfrm>
        <a:graphic>
          <a:graphicData uri="http://schemas.openxmlformats.org/drawingml/2006/table">
            <a:tbl>
              <a:tblPr/>
              <a:tblGrid>
                <a:gridCol w="2849776"/>
                <a:gridCol w="5440962"/>
              </a:tblGrid>
              <a:tr h="8337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Đối tượng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84"/>
                        </a:lnSpc>
                        <a:defRPr/>
                      </a:pPr>
                      <a:r>
                        <a:rPr lang="en-US" sz="282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Chi tiết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62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 DB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t_pipeline.db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20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act_sales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6,435 rows × 17 cột – toà</a:t>
                      </a: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 bộ dữ liệu transformed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20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dim_store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 rows – avg_sales, total_sales, num_weeks, store_tier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20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SQL queries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84"/>
                        </a:lnSpc>
                        <a:defRPr/>
                      </a:pPr>
                      <a:r>
                        <a:rPr lang="en-US" sz="282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Top stores, Holiday uplift, tháng cao nhất, Store Tier distribution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28923"/>
            <a:chOff x="0" y="0"/>
            <a:chExt cx="24417871" cy="16385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38603"/>
            </a:xfrm>
            <a:custGeom>
              <a:avLst/>
              <a:gdLst/>
              <a:ahLst/>
              <a:cxnLst/>
              <a:rect r="r" b="b" t="t" l="l"/>
              <a:pathLst>
                <a:path h="163860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38603"/>
                  </a:lnTo>
                  <a:lnTo>
                    <a:pt x="0" y="1638603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07095" y="114439"/>
            <a:ext cx="16824960" cy="1216227"/>
            <a:chOff x="0" y="0"/>
            <a:chExt cx="22433280" cy="16216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21636"/>
            </a:xfrm>
            <a:custGeom>
              <a:avLst/>
              <a:gdLst/>
              <a:ahLst/>
              <a:cxnLst/>
              <a:rect r="r" b="b" t="t" l="l"/>
              <a:pathLst>
                <a:path h="162163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21636"/>
                  </a:lnTo>
                  <a:lnTo>
                    <a:pt x="0" y="16216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163" r="0" b="-2259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697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3966" y="2289478"/>
            <a:ext cx="3608028" cy="2609864"/>
            <a:chOff x="0" y="0"/>
            <a:chExt cx="5243412" cy="37928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43450" cy="3792856"/>
            </a:xfrm>
            <a:custGeom>
              <a:avLst/>
              <a:gdLst/>
              <a:ahLst/>
              <a:cxnLst/>
              <a:rect r="r" b="b" t="t" l="l"/>
              <a:pathLst>
                <a:path h="3792856" w="5243450">
                  <a:moveTo>
                    <a:pt x="0" y="0"/>
                  </a:moveTo>
                  <a:lnTo>
                    <a:pt x="5243450" y="0"/>
                  </a:lnTo>
                  <a:lnTo>
                    <a:pt x="5243450" y="3792856"/>
                  </a:lnTo>
                  <a:lnTo>
                    <a:pt x="0" y="3792856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66512" y="2475760"/>
            <a:ext cx="3441182" cy="1046931"/>
            <a:chOff x="0" y="0"/>
            <a:chExt cx="5208957" cy="1584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08957" cy="1584752"/>
            </a:xfrm>
            <a:custGeom>
              <a:avLst/>
              <a:gdLst/>
              <a:ahLst/>
              <a:cxnLst/>
              <a:rect r="r" b="b" t="t" l="l"/>
              <a:pathLst>
                <a:path h="1584752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1584752"/>
                  </a:lnTo>
                  <a:lnTo>
                    <a:pt x="0" y="158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9" t="0" r="-204" b="-307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5208957" cy="168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$6.74B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26467" y="3522691"/>
            <a:ext cx="3781304" cy="684005"/>
            <a:chOff x="0" y="0"/>
            <a:chExt cx="5208957" cy="942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8957" cy="942255"/>
            </a:xfrm>
            <a:custGeom>
              <a:avLst/>
              <a:gdLst/>
              <a:ahLst/>
              <a:cxnLst/>
              <a:rect r="r" b="b" t="t" l="l"/>
              <a:pathLst>
                <a:path h="942255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942255"/>
                  </a:lnTo>
                  <a:lnTo>
                    <a:pt x="0" y="942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25" r="1695" b="-770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208957" cy="989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Tong Doanh Thu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26467" y="4206696"/>
            <a:ext cx="3781304" cy="435276"/>
            <a:chOff x="0" y="0"/>
            <a:chExt cx="5208957" cy="5996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08957" cy="599617"/>
            </a:xfrm>
            <a:custGeom>
              <a:avLst/>
              <a:gdLst/>
              <a:ahLst/>
              <a:cxnLst/>
              <a:rect r="r" b="b" t="t" l="l"/>
              <a:pathLst>
                <a:path h="599617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599617"/>
                  </a:lnTo>
                  <a:lnTo>
                    <a:pt x="0" y="599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33" r="1695" b="-13756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208957" cy="637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2010 – 2012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55394" y="2321099"/>
            <a:ext cx="3564313" cy="2578243"/>
            <a:chOff x="0" y="0"/>
            <a:chExt cx="5243412" cy="37928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3450" cy="3792856"/>
            </a:xfrm>
            <a:custGeom>
              <a:avLst/>
              <a:gdLst/>
              <a:ahLst/>
              <a:cxnLst/>
              <a:rect r="r" b="b" t="t" l="l"/>
              <a:pathLst>
                <a:path h="3792856" w="5243450">
                  <a:moveTo>
                    <a:pt x="0" y="0"/>
                  </a:moveTo>
                  <a:lnTo>
                    <a:pt x="5243450" y="0"/>
                  </a:lnTo>
                  <a:lnTo>
                    <a:pt x="5243450" y="3792856"/>
                  </a:lnTo>
                  <a:lnTo>
                    <a:pt x="0" y="3792856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565090" y="2475760"/>
            <a:ext cx="3441182" cy="1046931"/>
            <a:chOff x="0" y="0"/>
            <a:chExt cx="5208957" cy="1584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08957" cy="1584752"/>
            </a:xfrm>
            <a:custGeom>
              <a:avLst/>
              <a:gdLst/>
              <a:ahLst/>
              <a:cxnLst/>
              <a:rect r="r" b="b" t="t" l="l"/>
              <a:pathLst>
                <a:path h="1584752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1584752"/>
                  </a:lnTo>
                  <a:lnTo>
                    <a:pt x="0" y="158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9" t="0" r="-204" b="-307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5208957" cy="168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$1,047K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67895" y="3522691"/>
            <a:ext cx="3781304" cy="684005"/>
            <a:chOff x="0" y="0"/>
            <a:chExt cx="5208957" cy="9422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08957" cy="942255"/>
            </a:xfrm>
            <a:custGeom>
              <a:avLst/>
              <a:gdLst/>
              <a:ahLst/>
              <a:cxnLst/>
              <a:rect r="r" b="b" t="t" l="l"/>
              <a:pathLst>
                <a:path h="942255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942255"/>
                  </a:lnTo>
                  <a:lnTo>
                    <a:pt x="0" y="942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25" r="1695" b="-770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208957" cy="989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TB Tuan / Store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67895" y="4206696"/>
            <a:ext cx="3781304" cy="435276"/>
            <a:chOff x="0" y="0"/>
            <a:chExt cx="5208957" cy="5996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08957" cy="599617"/>
            </a:xfrm>
            <a:custGeom>
              <a:avLst/>
              <a:gdLst/>
              <a:ahLst/>
              <a:cxnLst/>
              <a:rect r="r" b="b" t="t" l="l"/>
              <a:pathLst>
                <a:path h="599617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599617"/>
                  </a:lnTo>
                  <a:lnTo>
                    <a:pt x="0" y="599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33" r="1695" b="-1375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08957" cy="637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week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96822" y="2321099"/>
            <a:ext cx="3564313" cy="2578243"/>
            <a:chOff x="0" y="0"/>
            <a:chExt cx="5243412" cy="37928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43450" cy="3792856"/>
            </a:xfrm>
            <a:custGeom>
              <a:avLst/>
              <a:gdLst/>
              <a:ahLst/>
              <a:cxnLst/>
              <a:rect r="r" b="b" t="t" l="l"/>
              <a:pathLst>
                <a:path h="3792856" w="5243450">
                  <a:moveTo>
                    <a:pt x="0" y="0"/>
                  </a:moveTo>
                  <a:lnTo>
                    <a:pt x="5243450" y="0"/>
                  </a:lnTo>
                  <a:lnTo>
                    <a:pt x="5243450" y="3792856"/>
                  </a:lnTo>
                  <a:lnTo>
                    <a:pt x="0" y="3792856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658388" y="2475760"/>
            <a:ext cx="3441182" cy="1046931"/>
            <a:chOff x="0" y="0"/>
            <a:chExt cx="5208957" cy="1584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08957" cy="1584752"/>
            </a:xfrm>
            <a:custGeom>
              <a:avLst/>
              <a:gdLst/>
              <a:ahLst/>
              <a:cxnLst/>
              <a:rect r="r" b="b" t="t" l="l"/>
              <a:pathLst>
                <a:path h="1584752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1584752"/>
                  </a:lnTo>
                  <a:lnTo>
                    <a:pt x="0" y="158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9" t="0" r="-204" b="-307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5208957" cy="1689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 20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9323" y="3522691"/>
            <a:ext cx="3781304" cy="684005"/>
            <a:chOff x="0" y="0"/>
            <a:chExt cx="5208957" cy="9422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08957" cy="942255"/>
            </a:xfrm>
            <a:custGeom>
              <a:avLst/>
              <a:gdLst/>
              <a:ahLst/>
              <a:cxnLst/>
              <a:rect r="r" b="b" t="t" l="l"/>
              <a:pathLst>
                <a:path h="942255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942255"/>
                  </a:lnTo>
                  <a:lnTo>
                    <a:pt x="0" y="942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25" r="1695" b="-7705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5208957" cy="989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 Tot Nhat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9323" y="4206696"/>
            <a:ext cx="3781304" cy="435276"/>
            <a:chOff x="0" y="0"/>
            <a:chExt cx="5208957" cy="59961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08957" cy="599617"/>
            </a:xfrm>
            <a:custGeom>
              <a:avLst/>
              <a:gdLst/>
              <a:ahLst/>
              <a:cxnLst/>
              <a:rect r="r" b="b" t="t" l="l"/>
              <a:pathLst>
                <a:path h="599617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599617"/>
                  </a:lnTo>
                  <a:lnTo>
                    <a:pt x="0" y="599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33" r="1695" b="-13756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208957" cy="637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Highest Revenue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38250" y="2321099"/>
            <a:ext cx="3564313" cy="2578243"/>
            <a:chOff x="0" y="0"/>
            <a:chExt cx="5243412" cy="379281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43450" cy="3792856"/>
            </a:xfrm>
            <a:custGeom>
              <a:avLst/>
              <a:gdLst/>
              <a:ahLst/>
              <a:cxnLst/>
              <a:rect r="r" b="b" t="t" l="l"/>
              <a:pathLst>
                <a:path h="3792856" w="5243450">
                  <a:moveTo>
                    <a:pt x="0" y="0"/>
                  </a:moveTo>
                  <a:lnTo>
                    <a:pt x="5243450" y="0"/>
                  </a:lnTo>
                  <a:lnTo>
                    <a:pt x="5243450" y="3792856"/>
                  </a:lnTo>
                  <a:lnTo>
                    <a:pt x="0" y="3792856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742160" y="2475760"/>
            <a:ext cx="3641779" cy="1046931"/>
            <a:chOff x="0" y="0"/>
            <a:chExt cx="5208957" cy="149746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08957" cy="1497461"/>
            </a:xfrm>
            <a:custGeom>
              <a:avLst/>
              <a:gdLst/>
              <a:ahLst/>
              <a:cxnLst/>
              <a:rect r="r" b="b" t="t" l="l"/>
              <a:pathLst>
                <a:path h="1497461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1497461"/>
                  </a:lnTo>
                  <a:lnTo>
                    <a:pt x="0" y="14974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9" t="0" r="-204" b="-3841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5208957" cy="1602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+7.8%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50751" y="3522691"/>
            <a:ext cx="3781304" cy="684005"/>
            <a:chOff x="0" y="0"/>
            <a:chExt cx="5208957" cy="9422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08957" cy="942255"/>
            </a:xfrm>
            <a:custGeom>
              <a:avLst/>
              <a:gdLst/>
              <a:ahLst/>
              <a:cxnLst/>
              <a:rect r="r" b="b" t="t" l="l"/>
              <a:pathLst>
                <a:path h="942255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942255"/>
                  </a:lnTo>
                  <a:lnTo>
                    <a:pt x="0" y="942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25" r="1695" b="-770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208957" cy="989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Holiday Uplift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750751" y="4206696"/>
            <a:ext cx="3781304" cy="435276"/>
            <a:chOff x="0" y="0"/>
            <a:chExt cx="5208957" cy="59961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08957" cy="599617"/>
            </a:xfrm>
            <a:custGeom>
              <a:avLst/>
              <a:gdLst/>
              <a:ahLst/>
              <a:cxnLst/>
              <a:rect r="r" b="b" t="t" l="l"/>
              <a:pathLst>
                <a:path h="599617" w="5208957">
                  <a:moveTo>
                    <a:pt x="0" y="0"/>
                  </a:moveTo>
                  <a:lnTo>
                    <a:pt x="5208957" y="0"/>
                  </a:lnTo>
                  <a:lnTo>
                    <a:pt x="5208957" y="599617"/>
                  </a:lnTo>
                  <a:lnTo>
                    <a:pt x="0" y="599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33" r="1695" b="-13756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208957" cy="637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Non-Holiday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2083960" y="6019800"/>
            <a:ext cx="14125786" cy="3868869"/>
          </a:xfrm>
          <a:custGeom>
            <a:avLst/>
            <a:gdLst/>
            <a:ahLst/>
            <a:cxnLst/>
            <a:rect r="r" b="b" t="t" l="l"/>
            <a:pathLst>
              <a:path h="3868869" w="14125786">
                <a:moveTo>
                  <a:pt x="0" y="0"/>
                </a:moveTo>
                <a:lnTo>
                  <a:pt x="14125786" y="0"/>
                </a:lnTo>
                <a:lnTo>
                  <a:pt x="14125786" y="3868869"/>
                </a:lnTo>
                <a:lnTo>
                  <a:pt x="0" y="3868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4" t="-13294" r="-3425" b="-2793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2083960" y="1444966"/>
            <a:ext cx="7574427" cy="587337"/>
            <a:chOff x="0" y="0"/>
            <a:chExt cx="12386344" cy="9604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386383" cy="960501"/>
            </a:xfrm>
            <a:custGeom>
              <a:avLst/>
              <a:gdLst/>
              <a:ahLst/>
              <a:cxnLst/>
              <a:rect r="r" b="b" t="t" l="l"/>
              <a:pathLst>
                <a:path h="960501" w="12386383">
                  <a:moveTo>
                    <a:pt x="407355" y="0"/>
                  </a:moveTo>
                  <a:lnTo>
                    <a:pt x="11979028" y="0"/>
                  </a:lnTo>
                  <a:cubicBezTo>
                    <a:pt x="12087065" y="0"/>
                    <a:pt x="12190678" y="42918"/>
                    <a:pt x="12267071" y="119311"/>
                  </a:cubicBezTo>
                  <a:cubicBezTo>
                    <a:pt x="12343465" y="195705"/>
                    <a:pt x="12386383" y="299318"/>
                    <a:pt x="12386383" y="407355"/>
                  </a:cubicBezTo>
                  <a:lnTo>
                    <a:pt x="12386383" y="553146"/>
                  </a:lnTo>
                  <a:cubicBezTo>
                    <a:pt x="12386383" y="661183"/>
                    <a:pt x="12343465" y="764796"/>
                    <a:pt x="12267071" y="841190"/>
                  </a:cubicBezTo>
                  <a:cubicBezTo>
                    <a:pt x="12190678" y="917583"/>
                    <a:pt x="12087065" y="960501"/>
                    <a:pt x="11979028" y="960501"/>
                  </a:cubicBezTo>
                  <a:lnTo>
                    <a:pt x="407355" y="960501"/>
                  </a:lnTo>
                  <a:cubicBezTo>
                    <a:pt x="299318" y="960501"/>
                    <a:pt x="195705" y="917583"/>
                    <a:pt x="119311" y="841190"/>
                  </a:cubicBezTo>
                  <a:cubicBezTo>
                    <a:pt x="42918" y="764796"/>
                    <a:pt x="0" y="661183"/>
                    <a:pt x="0" y="553146"/>
                  </a:cubicBezTo>
                  <a:lnTo>
                    <a:pt x="0" y="407355"/>
                  </a:lnTo>
                  <a:cubicBezTo>
                    <a:pt x="0" y="299318"/>
                    <a:pt x="42918" y="195705"/>
                    <a:pt x="119311" y="119311"/>
                  </a:cubicBezTo>
                  <a:cubicBezTo>
                    <a:pt x="195705" y="42918"/>
                    <a:pt x="299318" y="0"/>
                    <a:pt x="407355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2591586" y="1422703"/>
            <a:ext cx="6597611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KPI Dashboard — Tổng Quan Hiệu Suất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798076" y="5080317"/>
            <a:ext cx="8184631" cy="634653"/>
            <a:chOff x="0" y="0"/>
            <a:chExt cx="12386344" cy="96046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386383" cy="960501"/>
            </a:xfrm>
            <a:custGeom>
              <a:avLst/>
              <a:gdLst/>
              <a:ahLst/>
              <a:cxnLst/>
              <a:rect r="r" b="b" t="t" l="l"/>
              <a:pathLst>
                <a:path h="960501" w="12386383">
                  <a:moveTo>
                    <a:pt x="376984" y="0"/>
                  </a:moveTo>
                  <a:lnTo>
                    <a:pt x="12009398" y="0"/>
                  </a:lnTo>
                  <a:cubicBezTo>
                    <a:pt x="12109381" y="0"/>
                    <a:pt x="12205268" y="39718"/>
                    <a:pt x="12275966" y="110416"/>
                  </a:cubicBezTo>
                  <a:cubicBezTo>
                    <a:pt x="12346665" y="181114"/>
                    <a:pt x="12386383" y="277002"/>
                    <a:pt x="12386383" y="376984"/>
                  </a:cubicBezTo>
                  <a:lnTo>
                    <a:pt x="12386383" y="583517"/>
                  </a:lnTo>
                  <a:cubicBezTo>
                    <a:pt x="12386383" y="683499"/>
                    <a:pt x="12346665" y="779386"/>
                    <a:pt x="12275966" y="850085"/>
                  </a:cubicBezTo>
                  <a:cubicBezTo>
                    <a:pt x="12205268" y="920783"/>
                    <a:pt x="12109381" y="960501"/>
                    <a:pt x="12009398" y="960501"/>
                  </a:cubicBezTo>
                  <a:lnTo>
                    <a:pt x="376984" y="960501"/>
                  </a:lnTo>
                  <a:cubicBezTo>
                    <a:pt x="277002" y="960501"/>
                    <a:pt x="181114" y="920783"/>
                    <a:pt x="110416" y="850085"/>
                  </a:cubicBezTo>
                  <a:cubicBezTo>
                    <a:pt x="39718" y="779386"/>
                    <a:pt x="0" y="683499"/>
                    <a:pt x="0" y="583517"/>
                  </a:cubicBezTo>
                  <a:lnTo>
                    <a:pt x="0" y="376984"/>
                  </a:lnTo>
                  <a:cubicBezTo>
                    <a:pt x="0" y="277002"/>
                    <a:pt x="39718" y="181114"/>
                    <a:pt x="110416" y="110416"/>
                  </a:cubicBezTo>
                  <a:cubicBezTo>
                    <a:pt x="181114" y="39718"/>
                    <a:pt x="277002" y="0"/>
                    <a:pt x="376984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2196355" y="5076825"/>
            <a:ext cx="744747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Xu hướng doanh thu theo tuần (2010-2012)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5" y="86825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KẾT QUẢ PHÂN TÍCH DỮ LIỆU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21810" y="2950874"/>
            <a:ext cx="11199661" cy="5727540"/>
          </a:xfrm>
          <a:custGeom>
            <a:avLst/>
            <a:gdLst/>
            <a:ahLst/>
            <a:cxnLst/>
            <a:rect r="r" b="b" t="t" l="l"/>
            <a:pathLst>
              <a:path h="5727540" w="11199661">
                <a:moveTo>
                  <a:pt x="0" y="0"/>
                </a:moveTo>
                <a:lnTo>
                  <a:pt x="11199661" y="0"/>
                </a:lnTo>
                <a:lnTo>
                  <a:pt x="11199661" y="5727541"/>
                </a:lnTo>
                <a:lnTo>
                  <a:pt x="0" y="572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30" t="-4680" r="-748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13096" y="2950874"/>
            <a:ext cx="5785060" cy="5308450"/>
          </a:xfrm>
          <a:custGeom>
            <a:avLst/>
            <a:gdLst/>
            <a:ahLst/>
            <a:cxnLst/>
            <a:rect r="r" b="b" t="t" l="l"/>
            <a:pathLst>
              <a:path h="5308450" w="5785060">
                <a:moveTo>
                  <a:pt x="0" y="0"/>
                </a:moveTo>
                <a:lnTo>
                  <a:pt x="5785060" y="0"/>
                </a:lnTo>
                <a:lnTo>
                  <a:pt x="5785060" y="5308451"/>
                </a:lnTo>
                <a:lnTo>
                  <a:pt x="0" y="5308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938772" y="1896575"/>
            <a:ext cx="6205233" cy="693789"/>
            <a:chOff x="0" y="0"/>
            <a:chExt cx="12386344" cy="13848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86383" cy="1384920"/>
            </a:xfrm>
            <a:custGeom>
              <a:avLst/>
              <a:gdLst/>
              <a:ahLst/>
              <a:cxnLst/>
              <a:rect r="r" b="b" t="t" l="l"/>
              <a:pathLst>
                <a:path h="1384920" w="12386383">
                  <a:moveTo>
                    <a:pt x="497238" y="0"/>
                  </a:moveTo>
                  <a:lnTo>
                    <a:pt x="11889145" y="0"/>
                  </a:lnTo>
                  <a:cubicBezTo>
                    <a:pt x="12163761" y="0"/>
                    <a:pt x="12386383" y="222621"/>
                    <a:pt x="12386383" y="497238"/>
                  </a:cubicBezTo>
                  <a:lnTo>
                    <a:pt x="12386383" y="887681"/>
                  </a:lnTo>
                  <a:cubicBezTo>
                    <a:pt x="12386383" y="1162299"/>
                    <a:pt x="12163761" y="1384920"/>
                    <a:pt x="11889145" y="1384920"/>
                  </a:cubicBezTo>
                  <a:lnTo>
                    <a:pt x="497238" y="1384920"/>
                  </a:lnTo>
                  <a:cubicBezTo>
                    <a:pt x="222621" y="1384920"/>
                    <a:pt x="0" y="1162299"/>
                    <a:pt x="0" y="887681"/>
                  </a:cubicBezTo>
                  <a:lnTo>
                    <a:pt x="0" y="497238"/>
                  </a:lnTo>
                  <a:cubicBezTo>
                    <a:pt x="0" y="222621"/>
                    <a:pt x="222621" y="0"/>
                    <a:pt x="497238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985417" y="1905333"/>
            <a:ext cx="411194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Phân tích theo thời vụ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KẾT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2413" y="1845637"/>
            <a:ext cx="6205233" cy="693789"/>
            <a:chOff x="0" y="0"/>
            <a:chExt cx="12386344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86383" cy="1384920"/>
            </a:xfrm>
            <a:custGeom>
              <a:avLst/>
              <a:gdLst/>
              <a:ahLst/>
              <a:cxnLst/>
              <a:rect r="r" b="b" t="t" l="l"/>
              <a:pathLst>
                <a:path h="1384920" w="12386383">
                  <a:moveTo>
                    <a:pt x="497238" y="0"/>
                  </a:moveTo>
                  <a:lnTo>
                    <a:pt x="11889145" y="0"/>
                  </a:lnTo>
                  <a:cubicBezTo>
                    <a:pt x="12163761" y="0"/>
                    <a:pt x="12386383" y="222621"/>
                    <a:pt x="12386383" y="497238"/>
                  </a:cubicBezTo>
                  <a:lnTo>
                    <a:pt x="12386383" y="887681"/>
                  </a:lnTo>
                  <a:cubicBezTo>
                    <a:pt x="12386383" y="1162299"/>
                    <a:pt x="12163761" y="1384920"/>
                    <a:pt x="11889145" y="1384920"/>
                  </a:cubicBezTo>
                  <a:lnTo>
                    <a:pt x="497238" y="1384920"/>
                  </a:lnTo>
                  <a:cubicBezTo>
                    <a:pt x="222621" y="1384920"/>
                    <a:pt x="0" y="1162299"/>
                    <a:pt x="0" y="887681"/>
                  </a:cubicBezTo>
                  <a:lnTo>
                    <a:pt x="0" y="497238"/>
                  </a:lnTo>
                  <a:cubicBezTo>
                    <a:pt x="0" y="222621"/>
                    <a:pt x="222621" y="0"/>
                    <a:pt x="497238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60011" y="3000756"/>
            <a:ext cx="6026617" cy="4661586"/>
          </a:xfrm>
          <a:custGeom>
            <a:avLst/>
            <a:gdLst/>
            <a:ahLst/>
            <a:cxnLst/>
            <a:rect r="r" b="b" t="t" l="l"/>
            <a:pathLst>
              <a:path h="4661586" w="6026617">
                <a:moveTo>
                  <a:pt x="0" y="0"/>
                </a:moveTo>
                <a:lnTo>
                  <a:pt x="6026616" y="0"/>
                </a:lnTo>
                <a:lnTo>
                  <a:pt x="6026616" y="4661586"/>
                </a:lnTo>
                <a:lnTo>
                  <a:pt x="0" y="4661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3" t="0" r="-813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86627" y="3178006"/>
            <a:ext cx="5956482" cy="4307088"/>
          </a:xfrm>
          <a:custGeom>
            <a:avLst/>
            <a:gdLst/>
            <a:ahLst/>
            <a:cxnLst/>
            <a:rect r="r" b="b" t="t" l="l"/>
            <a:pathLst>
              <a:path h="4307088" w="5956482">
                <a:moveTo>
                  <a:pt x="0" y="0"/>
                </a:moveTo>
                <a:lnTo>
                  <a:pt x="5956482" y="0"/>
                </a:lnTo>
                <a:lnTo>
                  <a:pt x="5956482" y="4307087"/>
                </a:lnTo>
                <a:lnTo>
                  <a:pt x="0" y="4307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1" t="0" r="-2516" b="-136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83460" y="3178006"/>
            <a:ext cx="5643419" cy="4307088"/>
          </a:xfrm>
          <a:custGeom>
            <a:avLst/>
            <a:gdLst/>
            <a:ahLst/>
            <a:cxnLst/>
            <a:rect r="r" b="b" t="t" l="l"/>
            <a:pathLst>
              <a:path h="4307088" w="5643419">
                <a:moveTo>
                  <a:pt x="0" y="0"/>
                </a:moveTo>
                <a:lnTo>
                  <a:pt x="5643419" y="0"/>
                </a:lnTo>
                <a:lnTo>
                  <a:pt x="5643419" y="4307087"/>
                </a:lnTo>
                <a:lnTo>
                  <a:pt x="0" y="43070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22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53410" y="1854394"/>
            <a:ext cx="304323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Tác động tuần lễ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71417"/>
            <a:chOff x="0" y="0"/>
            <a:chExt cx="24417871" cy="15618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561927"/>
            </a:xfrm>
            <a:custGeom>
              <a:avLst/>
              <a:gdLst/>
              <a:ahLst/>
              <a:cxnLst/>
              <a:rect r="r" b="b" t="t" l="l"/>
              <a:pathLst>
                <a:path h="156192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561927"/>
                  </a:lnTo>
                  <a:lnTo>
                    <a:pt x="0" y="1561927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158720"/>
            <a:chOff x="0" y="0"/>
            <a:chExt cx="22433280" cy="154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544960"/>
            </a:xfrm>
            <a:custGeom>
              <a:avLst/>
              <a:gdLst/>
              <a:ahLst/>
              <a:cxnLst/>
              <a:rect r="r" b="b" t="t" l="l"/>
              <a:pathLst>
                <a:path h="154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44960"/>
                  </a:lnTo>
                  <a:lnTo>
                    <a:pt x="0" y="154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42" r="0" b="-242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62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KẾT QUẢ PHÂN TÍCH DỮ LIỆU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0115" y="2290659"/>
            <a:ext cx="16527780" cy="3709923"/>
          </a:xfrm>
          <a:custGeom>
            <a:avLst/>
            <a:gdLst/>
            <a:ahLst/>
            <a:cxnLst/>
            <a:rect r="r" b="b" t="t" l="l"/>
            <a:pathLst>
              <a:path h="3709923" w="16527780">
                <a:moveTo>
                  <a:pt x="0" y="0"/>
                </a:moveTo>
                <a:lnTo>
                  <a:pt x="16527780" y="0"/>
                </a:lnTo>
                <a:lnTo>
                  <a:pt x="16527780" y="3709924"/>
                </a:lnTo>
                <a:lnTo>
                  <a:pt x="0" y="3709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29" t="0" r="-350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4684" y="6222216"/>
            <a:ext cx="4857064" cy="3850941"/>
          </a:xfrm>
          <a:custGeom>
            <a:avLst/>
            <a:gdLst/>
            <a:ahLst/>
            <a:cxnLst/>
            <a:rect r="r" b="b" t="t" l="l"/>
            <a:pathLst>
              <a:path h="3850941" w="4857064">
                <a:moveTo>
                  <a:pt x="0" y="0"/>
                </a:moveTo>
                <a:lnTo>
                  <a:pt x="4857064" y="0"/>
                </a:lnTo>
                <a:lnTo>
                  <a:pt x="4857064" y="3850942"/>
                </a:lnTo>
                <a:lnTo>
                  <a:pt x="0" y="3850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42" t="0" r="-7397" b="-298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87267" y="6222216"/>
            <a:ext cx="7397494" cy="3824018"/>
          </a:xfrm>
          <a:custGeom>
            <a:avLst/>
            <a:gdLst/>
            <a:ahLst/>
            <a:cxnLst/>
            <a:rect r="r" b="b" t="t" l="l"/>
            <a:pathLst>
              <a:path h="3824018" w="7397494">
                <a:moveTo>
                  <a:pt x="0" y="0"/>
                </a:moveTo>
                <a:lnTo>
                  <a:pt x="7397494" y="0"/>
                </a:lnTo>
                <a:lnTo>
                  <a:pt x="7397494" y="3824018"/>
                </a:lnTo>
                <a:lnTo>
                  <a:pt x="0" y="38240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186" t="-2991" r="-5993" b="-3365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74684" y="1338112"/>
            <a:ext cx="5168169" cy="689747"/>
            <a:chOff x="0" y="0"/>
            <a:chExt cx="12386344" cy="16530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6383" cy="1653127"/>
            </a:xfrm>
            <a:custGeom>
              <a:avLst/>
              <a:gdLst/>
              <a:ahLst/>
              <a:cxnLst/>
              <a:rect r="r" b="b" t="t" l="l"/>
              <a:pathLst>
                <a:path h="1653127" w="12386383">
                  <a:moveTo>
                    <a:pt x="597016" y="0"/>
                  </a:moveTo>
                  <a:lnTo>
                    <a:pt x="11789367" y="0"/>
                  </a:lnTo>
                  <a:cubicBezTo>
                    <a:pt x="11947706" y="0"/>
                    <a:pt x="12099558" y="62900"/>
                    <a:pt x="12211521" y="174862"/>
                  </a:cubicBezTo>
                  <a:cubicBezTo>
                    <a:pt x="12323483" y="286824"/>
                    <a:pt x="12386383" y="438677"/>
                    <a:pt x="12386383" y="597016"/>
                  </a:cubicBezTo>
                  <a:lnTo>
                    <a:pt x="12386383" y="1056111"/>
                  </a:lnTo>
                  <a:cubicBezTo>
                    <a:pt x="12386383" y="1214450"/>
                    <a:pt x="12323483" y="1366303"/>
                    <a:pt x="12211521" y="1478265"/>
                  </a:cubicBezTo>
                  <a:cubicBezTo>
                    <a:pt x="12099558" y="1590227"/>
                    <a:pt x="11947706" y="1653127"/>
                    <a:pt x="11789367" y="1653127"/>
                  </a:cubicBezTo>
                  <a:lnTo>
                    <a:pt x="597016" y="1653127"/>
                  </a:lnTo>
                  <a:cubicBezTo>
                    <a:pt x="438677" y="1653127"/>
                    <a:pt x="286824" y="1590227"/>
                    <a:pt x="174862" y="1478265"/>
                  </a:cubicBezTo>
                  <a:cubicBezTo>
                    <a:pt x="62900" y="1366303"/>
                    <a:pt x="0" y="1214450"/>
                    <a:pt x="0" y="1056111"/>
                  </a:cubicBezTo>
                  <a:lnTo>
                    <a:pt x="0" y="597016"/>
                  </a:lnTo>
                  <a:cubicBezTo>
                    <a:pt x="0" y="438677"/>
                    <a:pt x="62900" y="286824"/>
                    <a:pt x="174862" y="174862"/>
                  </a:cubicBezTo>
                  <a:cubicBezTo>
                    <a:pt x="286824" y="62900"/>
                    <a:pt x="438677" y="0"/>
                    <a:pt x="597016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254292" y="1340086"/>
            <a:ext cx="400895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Hiệu suất 45 cửa hàng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648780"/>
            <a:ext cx="9749012" cy="693789"/>
            <a:chOff x="0" y="0"/>
            <a:chExt cx="19460127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60166" cy="1384920"/>
            </a:xfrm>
            <a:custGeom>
              <a:avLst/>
              <a:gdLst/>
              <a:ahLst/>
              <a:cxnLst/>
              <a:rect r="r" b="b" t="t" l="l"/>
              <a:pathLst>
                <a:path h="1384920" w="19460166">
                  <a:moveTo>
                    <a:pt x="316491" y="0"/>
                  </a:moveTo>
                  <a:lnTo>
                    <a:pt x="19143675" y="0"/>
                  </a:lnTo>
                  <a:cubicBezTo>
                    <a:pt x="19227612" y="0"/>
                    <a:pt x="19308114" y="33345"/>
                    <a:pt x="19367467" y="92698"/>
                  </a:cubicBezTo>
                  <a:cubicBezTo>
                    <a:pt x="19426822" y="152052"/>
                    <a:pt x="19460166" y="232553"/>
                    <a:pt x="19460166" y="316491"/>
                  </a:cubicBezTo>
                  <a:lnTo>
                    <a:pt x="19460166" y="1068428"/>
                  </a:lnTo>
                  <a:cubicBezTo>
                    <a:pt x="19460166" y="1152367"/>
                    <a:pt x="19426822" y="1232868"/>
                    <a:pt x="19367467" y="1292221"/>
                  </a:cubicBezTo>
                  <a:cubicBezTo>
                    <a:pt x="19308114" y="1351575"/>
                    <a:pt x="19227612" y="1384920"/>
                    <a:pt x="19143675" y="1384920"/>
                  </a:cubicBezTo>
                  <a:lnTo>
                    <a:pt x="316491" y="1384920"/>
                  </a:lnTo>
                  <a:cubicBezTo>
                    <a:pt x="141698" y="1384920"/>
                    <a:pt x="0" y="1243222"/>
                    <a:pt x="0" y="1068428"/>
                  </a:cubicBezTo>
                  <a:lnTo>
                    <a:pt x="0" y="316491"/>
                  </a:lnTo>
                  <a:cubicBezTo>
                    <a:pt x="0" y="232553"/>
                    <a:pt x="33345" y="152052"/>
                    <a:pt x="92698" y="92698"/>
                  </a:cubicBezTo>
                  <a:cubicBezTo>
                    <a:pt x="152052" y="33345"/>
                    <a:pt x="232553" y="0"/>
                    <a:pt x="316491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31520" y="2873458"/>
            <a:ext cx="8412485" cy="6239621"/>
          </a:xfrm>
          <a:custGeom>
            <a:avLst/>
            <a:gdLst/>
            <a:ahLst/>
            <a:cxnLst/>
            <a:rect r="r" b="b" t="t" l="l"/>
            <a:pathLst>
              <a:path h="6239621" w="8412485">
                <a:moveTo>
                  <a:pt x="0" y="0"/>
                </a:moveTo>
                <a:lnTo>
                  <a:pt x="8412485" y="0"/>
                </a:lnTo>
                <a:lnTo>
                  <a:pt x="8412485" y="6239621"/>
                </a:lnTo>
                <a:lnTo>
                  <a:pt x="0" y="6239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04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02494" y="3018008"/>
            <a:ext cx="8792782" cy="5082660"/>
          </a:xfrm>
          <a:custGeom>
            <a:avLst/>
            <a:gdLst/>
            <a:ahLst/>
            <a:cxnLst/>
            <a:rect r="r" b="b" t="t" l="l"/>
            <a:pathLst>
              <a:path h="5082660" w="8792782">
                <a:moveTo>
                  <a:pt x="0" y="0"/>
                </a:moveTo>
                <a:lnTo>
                  <a:pt x="8792782" y="0"/>
                </a:lnTo>
                <a:lnTo>
                  <a:pt x="8792782" y="5082660"/>
                </a:lnTo>
                <a:lnTo>
                  <a:pt x="0" y="50826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6691" b="-243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31520" y="1657537"/>
            <a:ext cx="1022352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 Trận Tương Quan — Biến Kinh Tế &amp; Doanh Thu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000696"/>
            <a:ext cx="9749012" cy="693789"/>
            <a:chOff x="0" y="0"/>
            <a:chExt cx="19460127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60166" cy="1384920"/>
            </a:xfrm>
            <a:custGeom>
              <a:avLst/>
              <a:gdLst/>
              <a:ahLst/>
              <a:cxnLst/>
              <a:rect r="r" b="b" t="t" l="l"/>
              <a:pathLst>
                <a:path h="1384920" w="19460166">
                  <a:moveTo>
                    <a:pt x="316491" y="0"/>
                  </a:moveTo>
                  <a:lnTo>
                    <a:pt x="19143675" y="0"/>
                  </a:lnTo>
                  <a:cubicBezTo>
                    <a:pt x="19227612" y="0"/>
                    <a:pt x="19308114" y="33345"/>
                    <a:pt x="19367467" y="92698"/>
                  </a:cubicBezTo>
                  <a:cubicBezTo>
                    <a:pt x="19426822" y="152052"/>
                    <a:pt x="19460166" y="232553"/>
                    <a:pt x="19460166" y="316491"/>
                  </a:cubicBezTo>
                  <a:lnTo>
                    <a:pt x="19460166" y="1068428"/>
                  </a:lnTo>
                  <a:cubicBezTo>
                    <a:pt x="19460166" y="1152367"/>
                    <a:pt x="19426822" y="1232868"/>
                    <a:pt x="19367467" y="1292221"/>
                  </a:cubicBezTo>
                  <a:cubicBezTo>
                    <a:pt x="19308114" y="1351575"/>
                    <a:pt x="19227612" y="1384920"/>
                    <a:pt x="19143675" y="1384920"/>
                  </a:cubicBezTo>
                  <a:lnTo>
                    <a:pt x="316491" y="1384920"/>
                  </a:lnTo>
                  <a:cubicBezTo>
                    <a:pt x="141698" y="1384920"/>
                    <a:pt x="0" y="1243222"/>
                    <a:pt x="0" y="1068428"/>
                  </a:cubicBezTo>
                  <a:lnTo>
                    <a:pt x="0" y="316491"/>
                  </a:lnTo>
                  <a:cubicBezTo>
                    <a:pt x="0" y="232553"/>
                    <a:pt x="33345" y="152052"/>
                    <a:pt x="92698" y="92698"/>
                  </a:cubicBezTo>
                  <a:cubicBezTo>
                    <a:pt x="152052" y="33345"/>
                    <a:pt x="232553" y="0"/>
                    <a:pt x="316491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03725" y="3380770"/>
            <a:ext cx="9004641" cy="4987458"/>
          </a:xfrm>
          <a:custGeom>
            <a:avLst/>
            <a:gdLst/>
            <a:ahLst/>
            <a:cxnLst/>
            <a:rect r="r" b="b" t="t" l="l"/>
            <a:pathLst>
              <a:path h="4987458" w="9004641">
                <a:moveTo>
                  <a:pt x="0" y="0"/>
                </a:moveTo>
                <a:lnTo>
                  <a:pt x="9004641" y="0"/>
                </a:lnTo>
                <a:lnTo>
                  <a:pt x="9004641" y="4987458"/>
                </a:lnTo>
                <a:lnTo>
                  <a:pt x="0" y="498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64" t="-4404" r="0" b="-269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08366" y="3310875"/>
            <a:ext cx="8823657" cy="5127248"/>
          </a:xfrm>
          <a:custGeom>
            <a:avLst/>
            <a:gdLst/>
            <a:ahLst/>
            <a:cxnLst/>
            <a:rect r="r" b="b" t="t" l="l"/>
            <a:pathLst>
              <a:path h="5127248" w="8823657">
                <a:moveTo>
                  <a:pt x="0" y="0"/>
                </a:moveTo>
                <a:lnTo>
                  <a:pt x="8823658" y="0"/>
                </a:lnTo>
                <a:lnTo>
                  <a:pt x="8823658" y="5127248"/>
                </a:lnTo>
                <a:lnTo>
                  <a:pt x="0" y="5127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471" r="-762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31520" y="2009453"/>
            <a:ext cx="1022352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Tăng Trưởng Doanh Thu Theo Năm (YoY Analysis)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III. KẾ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 QUẢ PHÂN TÍCH DỮ LIỆU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951344"/>
            <a:ext cx="10442503" cy="743142"/>
            <a:chOff x="0" y="0"/>
            <a:chExt cx="19460127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60166" cy="1384920"/>
            </a:xfrm>
            <a:custGeom>
              <a:avLst/>
              <a:gdLst/>
              <a:ahLst/>
              <a:cxnLst/>
              <a:rect r="r" b="b" t="t" l="l"/>
              <a:pathLst>
                <a:path h="1384920" w="19460166">
                  <a:moveTo>
                    <a:pt x="295473" y="0"/>
                  </a:moveTo>
                  <a:lnTo>
                    <a:pt x="19164692" y="0"/>
                  </a:lnTo>
                  <a:cubicBezTo>
                    <a:pt x="19243056" y="0"/>
                    <a:pt x="19318212" y="31130"/>
                    <a:pt x="19373624" y="86542"/>
                  </a:cubicBezTo>
                  <a:cubicBezTo>
                    <a:pt x="19429036" y="141954"/>
                    <a:pt x="19460166" y="217109"/>
                    <a:pt x="19460166" y="295473"/>
                  </a:cubicBezTo>
                  <a:lnTo>
                    <a:pt x="19460166" y="1089446"/>
                  </a:lnTo>
                  <a:cubicBezTo>
                    <a:pt x="19460166" y="1167811"/>
                    <a:pt x="19429036" y="1242966"/>
                    <a:pt x="19373624" y="1298378"/>
                  </a:cubicBezTo>
                  <a:cubicBezTo>
                    <a:pt x="19318212" y="1353790"/>
                    <a:pt x="19243056" y="1384920"/>
                    <a:pt x="19164692" y="1384920"/>
                  </a:cubicBezTo>
                  <a:lnTo>
                    <a:pt x="295473" y="1384920"/>
                  </a:lnTo>
                  <a:cubicBezTo>
                    <a:pt x="132288" y="1384920"/>
                    <a:pt x="0" y="1252632"/>
                    <a:pt x="0" y="1089446"/>
                  </a:cubicBezTo>
                  <a:lnTo>
                    <a:pt x="0" y="295473"/>
                  </a:lnTo>
                  <a:cubicBezTo>
                    <a:pt x="0" y="217109"/>
                    <a:pt x="31130" y="141954"/>
                    <a:pt x="86542" y="86542"/>
                  </a:cubicBezTo>
                  <a:cubicBezTo>
                    <a:pt x="141954" y="31130"/>
                    <a:pt x="217109" y="0"/>
                    <a:pt x="295473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31520" y="3399336"/>
            <a:ext cx="16692967" cy="5205478"/>
          </a:xfrm>
          <a:custGeom>
            <a:avLst/>
            <a:gdLst/>
            <a:ahLst/>
            <a:cxnLst/>
            <a:rect r="r" b="b" t="t" l="l"/>
            <a:pathLst>
              <a:path h="5205478" w="16692967">
                <a:moveTo>
                  <a:pt x="0" y="0"/>
                </a:moveTo>
                <a:lnTo>
                  <a:pt x="16692967" y="0"/>
                </a:lnTo>
                <a:lnTo>
                  <a:pt x="16692967" y="5205478"/>
                </a:lnTo>
                <a:lnTo>
                  <a:pt x="0" y="5205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2" t="0" r="-91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1520" y="2009453"/>
            <a:ext cx="1022352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 Sánh Xu Hướng Store 20 vs Store 33 vs Trung Bình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IV. MÔ HÌNH ML DỰ BÁO DOANH THU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000696"/>
            <a:ext cx="7014868" cy="693789"/>
            <a:chOff x="0" y="0"/>
            <a:chExt cx="14002467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02505" cy="1384920"/>
            </a:xfrm>
            <a:custGeom>
              <a:avLst/>
              <a:gdLst/>
              <a:ahLst/>
              <a:cxnLst/>
              <a:rect r="r" b="b" t="t" l="l"/>
              <a:pathLst>
                <a:path h="1384920" w="14002505">
                  <a:moveTo>
                    <a:pt x="439848" y="0"/>
                  </a:moveTo>
                  <a:lnTo>
                    <a:pt x="13562656" y="0"/>
                  </a:lnTo>
                  <a:cubicBezTo>
                    <a:pt x="13805577" y="0"/>
                    <a:pt x="14002505" y="196927"/>
                    <a:pt x="14002505" y="439848"/>
                  </a:cubicBezTo>
                  <a:lnTo>
                    <a:pt x="14002505" y="945071"/>
                  </a:lnTo>
                  <a:cubicBezTo>
                    <a:pt x="14002505" y="1061726"/>
                    <a:pt x="13956164" y="1173603"/>
                    <a:pt x="13873677" y="1256091"/>
                  </a:cubicBezTo>
                  <a:cubicBezTo>
                    <a:pt x="13791189" y="1338579"/>
                    <a:pt x="13679312" y="1384920"/>
                    <a:pt x="13562656" y="1384920"/>
                  </a:cubicBezTo>
                  <a:lnTo>
                    <a:pt x="439848" y="1384920"/>
                  </a:lnTo>
                  <a:cubicBezTo>
                    <a:pt x="196927" y="1384920"/>
                    <a:pt x="0" y="1187993"/>
                    <a:pt x="0" y="945071"/>
                  </a:cubicBezTo>
                  <a:lnTo>
                    <a:pt x="0" y="439848"/>
                  </a:lnTo>
                  <a:cubicBezTo>
                    <a:pt x="0" y="196927"/>
                    <a:pt x="196927" y="0"/>
                    <a:pt x="439848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91560" y="3731176"/>
            <a:ext cx="17704881" cy="4555101"/>
          </a:xfrm>
          <a:custGeom>
            <a:avLst/>
            <a:gdLst/>
            <a:ahLst/>
            <a:cxnLst/>
            <a:rect r="r" b="b" t="t" l="l"/>
            <a:pathLst>
              <a:path h="4555101" w="17704881">
                <a:moveTo>
                  <a:pt x="0" y="0"/>
                </a:moveTo>
                <a:lnTo>
                  <a:pt x="17704880" y="0"/>
                </a:lnTo>
                <a:lnTo>
                  <a:pt x="17704880" y="4555101"/>
                </a:lnTo>
                <a:lnTo>
                  <a:pt x="0" y="4555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26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9383" y="2009453"/>
            <a:ext cx="714418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 Sánh Hiệu Suất 3 Mô Hình ML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IV. MÔ HÌNH ML DỰ BÁO DOANH THU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5426" y="1676076"/>
            <a:ext cx="8115625" cy="802657"/>
            <a:chOff x="0" y="0"/>
            <a:chExt cx="14002467" cy="1384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02505" cy="1384920"/>
            </a:xfrm>
            <a:custGeom>
              <a:avLst/>
              <a:gdLst/>
              <a:ahLst/>
              <a:cxnLst/>
              <a:rect r="r" b="b" t="t" l="l"/>
              <a:pathLst>
                <a:path h="1384920" w="14002505">
                  <a:moveTo>
                    <a:pt x="380190" y="0"/>
                  </a:moveTo>
                  <a:lnTo>
                    <a:pt x="13622316" y="0"/>
                  </a:lnTo>
                  <a:cubicBezTo>
                    <a:pt x="13723148" y="0"/>
                    <a:pt x="13819851" y="40056"/>
                    <a:pt x="13891151" y="111355"/>
                  </a:cubicBezTo>
                  <a:cubicBezTo>
                    <a:pt x="13962450" y="182654"/>
                    <a:pt x="14002505" y="279357"/>
                    <a:pt x="14002505" y="380190"/>
                  </a:cubicBezTo>
                  <a:lnTo>
                    <a:pt x="14002505" y="1004730"/>
                  </a:lnTo>
                  <a:cubicBezTo>
                    <a:pt x="14002505" y="1105562"/>
                    <a:pt x="13962450" y="1202265"/>
                    <a:pt x="13891151" y="1273565"/>
                  </a:cubicBezTo>
                  <a:cubicBezTo>
                    <a:pt x="13819851" y="1344864"/>
                    <a:pt x="13723148" y="1384920"/>
                    <a:pt x="13622316" y="1384920"/>
                  </a:cubicBezTo>
                  <a:lnTo>
                    <a:pt x="380190" y="1384920"/>
                  </a:lnTo>
                  <a:cubicBezTo>
                    <a:pt x="279357" y="1384920"/>
                    <a:pt x="182654" y="1344864"/>
                    <a:pt x="111355" y="1273565"/>
                  </a:cubicBezTo>
                  <a:cubicBezTo>
                    <a:pt x="40056" y="1202265"/>
                    <a:pt x="0" y="1105562"/>
                    <a:pt x="0" y="1004730"/>
                  </a:cubicBezTo>
                  <a:lnTo>
                    <a:pt x="0" y="380190"/>
                  </a:lnTo>
                  <a:cubicBezTo>
                    <a:pt x="0" y="279357"/>
                    <a:pt x="40056" y="182654"/>
                    <a:pt x="111355" y="111355"/>
                  </a:cubicBezTo>
                  <a:cubicBezTo>
                    <a:pt x="182654" y="40056"/>
                    <a:pt x="279357" y="0"/>
                    <a:pt x="380190" y="0"/>
                  </a:cubicBezTo>
                  <a:close/>
                </a:path>
              </a:pathLst>
            </a:custGeom>
            <a:solidFill>
              <a:srgbClr val="AFB7D3"/>
            </a:solidFill>
            <a:ln w="25400" cap="rnd">
              <a:solidFill>
                <a:srgbClr val="2E86AB"/>
              </a:soli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73961" y="3208603"/>
            <a:ext cx="8597090" cy="5983941"/>
          </a:xfrm>
          <a:custGeom>
            <a:avLst/>
            <a:gdLst/>
            <a:ahLst/>
            <a:cxnLst/>
            <a:rect r="r" b="b" t="t" l="l"/>
            <a:pathLst>
              <a:path h="5983941" w="8597090">
                <a:moveTo>
                  <a:pt x="0" y="0"/>
                </a:moveTo>
                <a:lnTo>
                  <a:pt x="8597090" y="0"/>
                </a:lnTo>
                <a:lnTo>
                  <a:pt x="8597090" y="5983941"/>
                </a:lnTo>
                <a:lnTo>
                  <a:pt x="0" y="5983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969" r="-210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71051" y="3220240"/>
            <a:ext cx="8959591" cy="5960667"/>
          </a:xfrm>
          <a:custGeom>
            <a:avLst/>
            <a:gdLst/>
            <a:ahLst/>
            <a:cxnLst/>
            <a:rect r="r" b="b" t="t" l="l"/>
            <a:pathLst>
              <a:path h="5960667" w="8959591">
                <a:moveTo>
                  <a:pt x="0" y="0"/>
                </a:moveTo>
                <a:lnTo>
                  <a:pt x="8959592" y="0"/>
                </a:lnTo>
                <a:lnTo>
                  <a:pt x="8959592" y="5960667"/>
                </a:lnTo>
                <a:lnTo>
                  <a:pt x="0" y="5960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378" r="-960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3290" y="1764309"/>
            <a:ext cx="7947762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Actual vs Predicted &amp; Feature Importance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2"/>
            <a:ext cx="18313403" cy="1165817"/>
            <a:chOff x="0" y="0"/>
            <a:chExt cx="24417871" cy="15544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554461"/>
            </a:xfrm>
            <a:custGeom>
              <a:avLst/>
              <a:gdLst/>
              <a:ahLst/>
              <a:cxnLst/>
              <a:rect r="r" b="b" t="t" l="l"/>
              <a:pathLst>
                <a:path h="155446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554461"/>
                  </a:lnTo>
                  <a:lnTo>
                    <a:pt x="0" y="155446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272797"/>
            <a:chOff x="0" y="0"/>
            <a:chExt cx="22433280" cy="1697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97063"/>
            </a:xfrm>
            <a:custGeom>
              <a:avLst/>
              <a:gdLst/>
              <a:ahLst/>
              <a:cxnLst/>
              <a:rect r="r" b="b" t="t" l="l"/>
              <a:pathLst>
                <a:path h="1697063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97063"/>
                  </a:lnTo>
                  <a:lnTo>
                    <a:pt x="0" y="16970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89" r="0" b="-2114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773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V. 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TỔNG HỢP &amp; FILE OUTPUT</a:t>
              </a:r>
            </a:p>
          </p:txBody>
        </p:sp>
      </p:grpSp>
      <p:graphicFrame>
        <p:nvGraphicFramePr>
          <p:cNvPr name="Object 7" id="7"/>
          <p:cNvGraphicFramePr/>
          <p:nvPr/>
        </p:nvGraphicFramePr>
        <p:xfrm>
          <a:off x="731520" y="1354791"/>
          <a:ext cx="16230600" cy="6546342"/>
        </p:xfrm>
        <a:graphic>
          <a:graphicData uri="http://schemas.openxmlformats.org/presentationml/2006/ole">
            <p:oleObj imgW="19469100" imgH="9791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2"/>
            <a:ext cx="18313403" cy="1165817"/>
            <a:chOff x="0" y="0"/>
            <a:chExt cx="24417871" cy="15544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554461"/>
            </a:xfrm>
            <a:custGeom>
              <a:avLst/>
              <a:gdLst/>
              <a:ahLst/>
              <a:cxnLst/>
              <a:rect r="r" b="b" t="t" l="l"/>
              <a:pathLst>
                <a:path h="155446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554461"/>
                  </a:lnTo>
                  <a:lnTo>
                    <a:pt x="0" y="155446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272797"/>
            <a:chOff x="0" y="0"/>
            <a:chExt cx="22433280" cy="1697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97063"/>
            </a:xfrm>
            <a:custGeom>
              <a:avLst/>
              <a:gdLst/>
              <a:ahLst/>
              <a:cxnLst/>
              <a:rect r="r" b="b" t="t" l="l"/>
              <a:pathLst>
                <a:path h="1697063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97063"/>
                  </a:lnTo>
                  <a:lnTo>
                    <a:pt x="0" y="16970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89" r="0" b="-2114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773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V. </a:t>
              </a: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TỔNG HỢP &amp; FILE OUTPUT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426464"/>
            <a:ext cx="8216897" cy="744217"/>
            <a:chOff x="0" y="0"/>
            <a:chExt cx="10955862" cy="99228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955862" cy="960463"/>
              <a:chOff x="0" y="0"/>
              <a:chExt cx="10955862" cy="96046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955900" cy="960501"/>
              </a:xfrm>
              <a:custGeom>
                <a:avLst/>
                <a:gdLst/>
                <a:ahLst/>
                <a:cxnLst/>
                <a:rect r="r" b="b" t="t" l="l"/>
                <a:pathLst>
                  <a:path h="960501" w="10955900">
                    <a:moveTo>
                      <a:pt x="0" y="0"/>
                    </a:moveTo>
                    <a:lnTo>
                      <a:pt x="10955900" y="0"/>
                    </a:lnTo>
                    <a:lnTo>
                      <a:pt x="10955900" y="960501"/>
                    </a:lnTo>
                    <a:lnTo>
                      <a:pt x="0" y="960501"/>
                    </a:lnTo>
                    <a:close/>
                  </a:path>
                </a:pathLst>
              </a:custGeom>
              <a:solidFill>
                <a:srgbClr val="2E86AB"/>
              </a:solidFill>
              <a:ln w="25400" cap="sq">
                <a:solidFill>
                  <a:srgbClr val="2E86AB"/>
                </a:solidFill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46354" y="65697"/>
              <a:ext cx="10888438" cy="926592"/>
              <a:chOff x="0" y="0"/>
              <a:chExt cx="10888438" cy="92659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88438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10888438">
                    <a:moveTo>
                      <a:pt x="0" y="0"/>
                    </a:moveTo>
                    <a:lnTo>
                      <a:pt x="10888438" y="0"/>
                    </a:lnTo>
                    <a:lnTo>
                      <a:pt x="10888438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0743" r="-774" b="-180743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10888438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📁  Code &amp; Dữ Liệu</a:t>
                </a:r>
              </a:p>
            </p:txBody>
          </p:sp>
        </p:grp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48640" y="2157984"/>
          <a:ext cx="8204200" cy="2944812"/>
        </p:xfrm>
        <a:graphic>
          <a:graphicData uri="http://schemas.openxmlformats.org/drawingml/2006/table">
            <a:tbl>
              <a:tblPr/>
              <a:tblGrid>
                <a:gridCol w="3637948"/>
                <a:gridCol w="3276662"/>
                <a:gridCol w="1289590"/>
              </a:tblGrid>
              <a:tr h="6856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Mô tả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Định dạng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56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walmart_pipeline_final.ipynb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Toàn bộ code Phase 1–7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Jupyter Notebook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6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walmart_cleaned_full.csv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đã transform, 17 cột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CSV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77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walmart_pipeline.db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fact_sales (6,435) + dim_store (45)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SQLite DB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9291895" y="1413767"/>
            <a:ext cx="8662988" cy="720347"/>
            <a:chOff x="0" y="0"/>
            <a:chExt cx="11550651" cy="9604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50689" cy="960501"/>
            </a:xfrm>
            <a:custGeom>
              <a:avLst/>
              <a:gdLst/>
              <a:ahLst/>
              <a:cxnLst/>
              <a:rect r="r" b="b" t="t" l="l"/>
              <a:pathLst>
                <a:path h="960501" w="11550689">
                  <a:moveTo>
                    <a:pt x="0" y="0"/>
                  </a:moveTo>
                  <a:lnTo>
                    <a:pt x="11550689" y="0"/>
                  </a:lnTo>
                  <a:lnTo>
                    <a:pt x="1155068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05301" y="1426464"/>
            <a:ext cx="8427316" cy="694944"/>
            <a:chOff x="0" y="0"/>
            <a:chExt cx="11236421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3642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36420">
                  <a:moveTo>
                    <a:pt x="0" y="0"/>
                  </a:moveTo>
                  <a:lnTo>
                    <a:pt x="11236420" y="0"/>
                  </a:lnTo>
                  <a:lnTo>
                    <a:pt x="112364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2346" b="-1807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236421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Biểu Đồ &amp; Hình Ảnh (PNG)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9291895" y="2121408"/>
          <a:ext cx="8662988" cy="7890404"/>
        </p:xfrm>
        <a:graphic>
          <a:graphicData uri="http://schemas.openxmlformats.org/drawingml/2006/table">
            <a:tbl>
              <a:tblPr/>
              <a:tblGrid>
                <a:gridCol w="4044499"/>
                <a:gridCol w="4618489"/>
              </a:tblGrid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Mô tả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kpi_dashboard.png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KPI cards tổng quan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trend_weekly.png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Xu hướng doanh thu theo tuần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seasonality.png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tích thời vụ tháng &amp; mùa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6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holiday_impact.png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Holiday vs Non-Holiday (violin+bar+boxplot)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store_performance.png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Top 10 stores + Tier + Scatter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correlation.png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 trận tương quan + bar chart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yearly_growth.png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Tăng trưởng YoY dual-axis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store_trend_compare.png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 sánh Store 20 vs 33 vs avg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outliers_boxplot.png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Boxplot outliers 5 cột số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model_comparison.png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 sánh MAE/RMSE/R² 3 mô hình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model_analysis.png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Actual vs Predicted + Feature Importance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535943" y="5517872"/>
            <a:ext cx="8216897" cy="4493940"/>
            <a:chOff x="0" y="0"/>
            <a:chExt cx="11499844" cy="62894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99883" cy="6289469"/>
            </a:xfrm>
            <a:custGeom>
              <a:avLst/>
              <a:gdLst/>
              <a:ahLst/>
              <a:cxnLst/>
              <a:rect r="r" b="b" t="t" l="l"/>
              <a:pathLst>
                <a:path h="6289469" w="11499883">
                  <a:moveTo>
                    <a:pt x="0" y="0"/>
                  </a:moveTo>
                  <a:lnTo>
                    <a:pt x="11499883" y="0"/>
                  </a:lnTo>
                  <a:lnTo>
                    <a:pt x="11499883" y="6289469"/>
                  </a:lnTo>
                  <a:lnTo>
                    <a:pt x="0" y="6289469"/>
                  </a:lnTo>
                  <a:close/>
                </a:path>
              </a:pathLst>
            </a:custGeom>
            <a:solidFill>
              <a:srgbClr val="F1F5F9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01098" y="5650656"/>
            <a:ext cx="6358118" cy="605275"/>
            <a:chOff x="0" y="0"/>
            <a:chExt cx="8477491" cy="8070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77491" cy="807033"/>
            </a:xfrm>
            <a:custGeom>
              <a:avLst/>
              <a:gdLst/>
              <a:ahLst/>
              <a:cxnLst/>
              <a:rect r="r" b="b" t="t" l="l"/>
              <a:pathLst>
                <a:path h="807033" w="8477491">
                  <a:moveTo>
                    <a:pt x="0" y="0"/>
                  </a:moveTo>
                  <a:lnTo>
                    <a:pt x="8477491" y="0"/>
                  </a:lnTo>
                  <a:lnTo>
                    <a:pt x="8477491" y="807033"/>
                  </a:lnTo>
                  <a:lnTo>
                    <a:pt x="0" y="807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390" r="-20805" b="-20014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477491" cy="845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kết Output: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0588" y="6330392"/>
            <a:ext cx="702255" cy="715764"/>
            <a:chOff x="0" y="0"/>
            <a:chExt cx="936340" cy="9543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6378" cy="954391"/>
            </a:xfrm>
            <a:custGeom>
              <a:avLst/>
              <a:gdLst/>
              <a:ahLst/>
              <a:cxnLst/>
              <a:rect r="r" b="b" t="t" l="l"/>
              <a:pathLst>
                <a:path h="954391" w="936378">
                  <a:moveTo>
                    <a:pt x="0" y="0"/>
                  </a:moveTo>
                  <a:lnTo>
                    <a:pt x="936378" y="0"/>
                  </a:lnTo>
                  <a:lnTo>
                    <a:pt x="936378" y="954391"/>
                  </a:lnTo>
                  <a:lnTo>
                    <a:pt x="0" y="95439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01098" y="6342398"/>
            <a:ext cx="681227" cy="691742"/>
            <a:chOff x="0" y="0"/>
            <a:chExt cx="908303" cy="9223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8303" cy="922323"/>
            </a:xfrm>
            <a:custGeom>
              <a:avLst/>
              <a:gdLst/>
              <a:ahLst/>
              <a:cxnLst/>
              <a:rect r="r" b="b" t="t" l="l"/>
              <a:pathLst>
                <a:path h="922323" w="908303">
                  <a:moveTo>
                    <a:pt x="0" y="0"/>
                  </a:moveTo>
                  <a:lnTo>
                    <a:pt x="908303" y="0"/>
                  </a:lnTo>
                  <a:lnTo>
                    <a:pt x="908303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73" t="0" r="-98178" b="-57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08303" cy="9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33708" y="6342398"/>
            <a:ext cx="5449815" cy="691742"/>
            <a:chOff x="0" y="0"/>
            <a:chExt cx="7266420" cy="9223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66421" cy="922323"/>
            </a:xfrm>
            <a:custGeom>
              <a:avLst/>
              <a:gdLst/>
              <a:ahLst/>
              <a:cxnLst/>
              <a:rect r="r" b="b" t="t" l="l"/>
              <a:pathLst>
                <a:path h="922323" w="7266421">
                  <a:moveTo>
                    <a:pt x="0" y="0"/>
                  </a:moveTo>
                  <a:lnTo>
                    <a:pt x="7266421" y="0"/>
                  </a:lnTo>
                  <a:lnTo>
                    <a:pt x="7266421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74" r="-20805" b="-13832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266420" cy="96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Jupyter Notebook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0588" y="7229657"/>
            <a:ext cx="702255" cy="715764"/>
            <a:chOff x="0" y="0"/>
            <a:chExt cx="936340" cy="9543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6378" cy="954391"/>
            </a:xfrm>
            <a:custGeom>
              <a:avLst/>
              <a:gdLst/>
              <a:ahLst/>
              <a:cxnLst/>
              <a:rect r="r" b="b" t="t" l="l"/>
              <a:pathLst>
                <a:path h="954391" w="936378">
                  <a:moveTo>
                    <a:pt x="0" y="0"/>
                  </a:moveTo>
                  <a:lnTo>
                    <a:pt x="936378" y="0"/>
                  </a:lnTo>
                  <a:lnTo>
                    <a:pt x="936378" y="954391"/>
                  </a:lnTo>
                  <a:lnTo>
                    <a:pt x="0" y="954391"/>
                  </a:lnTo>
                  <a:close/>
                </a:path>
              </a:pathLst>
            </a:custGeom>
            <a:solidFill>
              <a:srgbClr val="2DC653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01098" y="7241663"/>
            <a:ext cx="681227" cy="691742"/>
            <a:chOff x="0" y="0"/>
            <a:chExt cx="908303" cy="9223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8303" cy="922323"/>
            </a:xfrm>
            <a:custGeom>
              <a:avLst/>
              <a:gdLst/>
              <a:ahLst/>
              <a:cxnLst/>
              <a:rect r="r" b="b" t="t" l="l"/>
              <a:pathLst>
                <a:path h="922323" w="908303">
                  <a:moveTo>
                    <a:pt x="0" y="0"/>
                  </a:moveTo>
                  <a:lnTo>
                    <a:pt x="908303" y="0"/>
                  </a:lnTo>
                  <a:lnTo>
                    <a:pt x="908303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73" t="0" r="-98178" b="-57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08303" cy="9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33708" y="7241663"/>
            <a:ext cx="5449815" cy="691742"/>
            <a:chOff x="0" y="0"/>
            <a:chExt cx="7266420" cy="9223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66421" cy="922323"/>
            </a:xfrm>
            <a:custGeom>
              <a:avLst/>
              <a:gdLst/>
              <a:ahLst/>
              <a:cxnLst/>
              <a:rect r="r" b="b" t="t" l="l"/>
              <a:pathLst>
                <a:path h="922323" w="7266421">
                  <a:moveTo>
                    <a:pt x="0" y="0"/>
                  </a:moveTo>
                  <a:lnTo>
                    <a:pt x="7266421" y="0"/>
                  </a:lnTo>
                  <a:lnTo>
                    <a:pt x="7266421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74" r="-20805" b="-13832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266420" cy="96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(17 cột)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0588" y="8128922"/>
            <a:ext cx="702255" cy="715764"/>
            <a:chOff x="0" y="0"/>
            <a:chExt cx="936340" cy="9543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6378" cy="954391"/>
            </a:xfrm>
            <a:custGeom>
              <a:avLst/>
              <a:gdLst/>
              <a:ahLst/>
              <a:cxnLst/>
              <a:rect r="r" b="b" t="t" l="l"/>
              <a:pathLst>
                <a:path h="954391" w="936378">
                  <a:moveTo>
                    <a:pt x="0" y="0"/>
                  </a:moveTo>
                  <a:lnTo>
                    <a:pt x="936378" y="0"/>
                  </a:lnTo>
                  <a:lnTo>
                    <a:pt x="936378" y="954391"/>
                  </a:lnTo>
                  <a:lnTo>
                    <a:pt x="0" y="954391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01098" y="8140928"/>
            <a:ext cx="681227" cy="691742"/>
            <a:chOff x="0" y="0"/>
            <a:chExt cx="908303" cy="92232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8303" cy="922323"/>
            </a:xfrm>
            <a:custGeom>
              <a:avLst/>
              <a:gdLst/>
              <a:ahLst/>
              <a:cxnLst/>
              <a:rect r="r" b="b" t="t" l="l"/>
              <a:pathLst>
                <a:path h="922323" w="908303">
                  <a:moveTo>
                    <a:pt x="0" y="0"/>
                  </a:moveTo>
                  <a:lnTo>
                    <a:pt x="908303" y="0"/>
                  </a:lnTo>
                  <a:lnTo>
                    <a:pt x="908303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73" t="0" r="-98178" b="-57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908303" cy="9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33708" y="8140928"/>
            <a:ext cx="5449815" cy="691742"/>
            <a:chOff x="0" y="0"/>
            <a:chExt cx="7266420" cy="9223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66421" cy="922323"/>
            </a:xfrm>
            <a:custGeom>
              <a:avLst/>
              <a:gdLst/>
              <a:ahLst/>
              <a:cxnLst/>
              <a:rect r="r" b="b" t="t" l="l"/>
              <a:pathLst>
                <a:path h="922323" w="7266421">
                  <a:moveTo>
                    <a:pt x="0" y="0"/>
                  </a:moveTo>
                  <a:lnTo>
                    <a:pt x="7266421" y="0"/>
                  </a:lnTo>
                  <a:lnTo>
                    <a:pt x="7266421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74" r="-20805" b="-13832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266420" cy="96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DB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90588" y="9028187"/>
            <a:ext cx="702255" cy="715764"/>
            <a:chOff x="0" y="0"/>
            <a:chExt cx="936340" cy="9543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6378" cy="954391"/>
            </a:xfrm>
            <a:custGeom>
              <a:avLst/>
              <a:gdLst/>
              <a:ahLst/>
              <a:cxnLst/>
              <a:rect r="r" b="b" t="t" l="l"/>
              <a:pathLst>
                <a:path h="954391" w="936378">
                  <a:moveTo>
                    <a:pt x="0" y="0"/>
                  </a:moveTo>
                  <a:lnTo>
                    <a:pt x="936378" y="0"/>
                  </a:lnTo>
                  <a:lnTo>
                    <a:pt x="936378" y="954391"/>
                  </a:lnTo>
                  <a:lnTo>
                    <a:pt x="0" y="954391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01098" y="9040194"/>
            <a:ext cx="681227" cy="691742"/>
            <a:chOff x="0" y="0"/>
            <a:chExt cx="908303" cy="92232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08303" cy="922323"/>
            </a:xfrm>
            <a:custGeom>
              <a:avLst/>
              <a:gdLst/>
              <a:ahLst/>
              <a:cxnLst/>
              <a:rect r="r" b="b" t="t" l="l"/>
              <a:pathLst>
                <a:path h="922323" w="908303">
                  <a:moveTo>
                    <a:pt x="0" y="0"/>
                  </a:moveTo>
                  <a:lnTo>
                    <a:pt x="908303" y="0"/>
                  </a:lnTo>
                  <a:lnTo>
                    <a:pt x="908303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73" t="0" r="-98178" b="-57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08303" cy="97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33708" y="9040194"/>
            <a:ext cx="5449815" cy="691742"/>
            <a:chOff x="0" y="0"/>
            <a:chExt cx="7266420" cy="9223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66421" cy="922323"/>
            </a:xfrm>
            <a:custGeom>
              <a:avLst/>
              <a:gdLst/>
              <a:ahLst/>
              <a:cxnLst/>
              <a:rect r="r" b="b" t="t" l="l"/>
              <a:pathLst>
                <a:path h="922323" w="7266421">
                  <a:moveTo>
                    <a:pt x="0" y="0"/>
                  </a:moveTo>
                  <a:lnTo>
                    <a:pt x="7266421" y="0"/>
                  </a:lnTo>
                  <a:lnTo>
                    <a:pt x="7266421" y="922323"/>
                  </a:lnTo>
                  <a:lnTo>
                    <a:pt x="0" y="922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74" r="-20805" b="-13832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266420" cy="960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Biểu đồ PNG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45489"/>
            <a:chOff x="0" y="0"/>
            <a:chExt cx="24417871" cy="1660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60690"/>
            </a:xfrm>
            <a:custGeom>
              <a:avLst/>
              <a:gdLst/>
              <a:ahLst/>
              <a:cxnLst/>
              <a:rect r="r" b="b" t="t" l="l"/>
              <a:pathLst>
                <a:path h="1660690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60690"/>
                  </a:lnTo>
                  <a:lnTo>
                    <a:pt x="0" y="1660690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232792"/>
            <a:chOff x="0" y="0"/>
            <a:chExt cx="22433280" cy="16437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643723"/>
            </a:xfrm>
            <a:custGeom>
              <a:avLst/>
              <a:gdLst/>
              <a:ahLst/>
              <a:cxnLst/>
              <a:rect r="r" b="b" t="t" l="l"/>
              <a:pathLst>
                <a:path h="1643723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643723"/>
                  </a:lnTo>
                  <a:lnTo>
                    <a:pt x="0" y="1643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99" r="0" b="-2215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719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VI.CÔNG CỤ VÀ KHÓ KHĂN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314707"/>
            <a:ext cx="8072123" cy="720347"/>
            <a:chOff x="0" y="0"/>
            <a:chExt cx="10762831" cy="9604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2869" cy="960501"/>
            </a:xfrm>
            <a:custGeom>
              <a:avLst/>
              <a:gdLst/>
              <a:ahLst/>
              <a:cxnLst/>
              <a:rect r="r" b="b" t="t" l="l"/>
              <a:pathLst>
                <a:path h="960501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327404"/>
            <a:ext cx="8046720" cy="694944"/>
            <a:chOff x="0" y="0"/>
            <a:chExt cx="1072896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616" r="0" b="-1756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728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🛠  6.1. Công Cụ &amp; Môi Trường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48640" y="2058924"/>
          <a:ext cx="8026400" cy="5492750"/>
        </p:xfrm>
        <a:graphic>
          <a:graphicData uri="http://schemas.openxmlformats.org/drawingml/2006/table">
            <a:tbl>
              <a:tblPr/>
              <a:tblGrid>
                <a:gridCol w="3288105"/>
                <a:gridCol w="4738295"/>
              </a:tblGrid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Công cụ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Mục đích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Python 3.10+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Ngôn ngữ lập trình chính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Google Colab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Môi trường chạy notebook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Pandas / NumPy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Xử lý DataFrame, tính toán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Matplotlib / Seaborn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Trực quan hoá dữ liệu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SQLite3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Lưu trữ và truy vấn dữ liệu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Scikit-learn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Xây dựng và đánh giá mô hình ML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65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Sửa code, tối ưu hoá bài làm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617218" y="7662672"/>
            <a:ext cx="3774443" cy="720347"/>
            <a:chOff x="0" y="0"/>
            <a:chExt cx="5032591" cy="960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29915" y="7675369"/>
            <a:ext cx="3749040" cy="682628"/>
            <a:chOff x="0" y="0"/>
            <a:chExt cx="4998720" cy="9101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98720" cy="910171"/>
            </a:xfrm>
            <a:custGeom>
              <a:avLst/>
              <a:gdLst/>
              <a:ahLst/>
              <a:cxnLst/>
              <a:rect r="r" b="b" t="t" l="l"/>
              <a:pathLst>
                <a:path h="910171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10171"/>
                  </a:lnTo>
                  <a:lnTo>
                    <a:pt x="0" y="9101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11" r="0" b="-579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998720" cy="948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🐍 Python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32018" y="7662672"/>
            <a:ext cx="3774443" cy="720347"/>
            <a:chOff x="0" y="0"/>
            <a:chExt cx="5032591" cy="9604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028090"/>
            </a:solidFill>
            <a:ln w="2540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744715" y="7675369"/>
            <a:ext cx="3749040" cy="694944"/>
            <a:chOff x="0" y="0"/>
            <a:chExt cx="499872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📓 Colab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7218" y="8577072"/>
            <a:ext cx="3774443" cy="720347"/>
            <a:chOff x="0" y="0"/>
            <a:chExt cx="5032591" cy="9604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DC653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29915" y="8589769"/>
            <a:ext cx="3749040" cy="694944"/>
            <a:chOff x="0" y="0"/>
            <a:chExt cx="499872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🐼 Pandas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32018" y="8577072"/>
            <a:ext cx="3774443" cy="720347"/>
            <a:chOff x="0" y="0"/>
            <a:chExt cx="5032591" cy="9604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F4A261"/>
            </a:solidFill>
            <a:ln w="2540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744715" y="8589769"/>
            <a:ext cx="3749040" cy="694944"/>
            <a:chOff x="0" y="0"/>
            <a:chExt cx="499872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Seaborn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17218" y="9491472"/>
            <a:ext cx="3774443" cy="720347"/>
            <a:chOff x="0" y="0"/>
            <a:chExt cx="5032591" cy="9604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29915" y="9504169"/>
            <a:ext cx="3749040" cy="694944"/>
            <a:chOff x="0" y="0"/>
            <a:chExt cx="499872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 SQLite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732018" y="9491472"/>
            <a:ext cx="3774443" cy="720347"/>
            <a:chOff x="0" y="0"/>
            <a:chExt cx="5032591" cy="9604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32629" cy="960501"/>
            </a:xfrm>
            <a:custGeom>
              <a:avLst/>
              <a:gdLst/>
              <a:ahLst/>
              <a:cxnLst/>
              <a:rect r="r" b="b" t="t" l="l"/>
              <a:pathLst>
                <a:path h="960501" w="5032629">
                  <a:moveTo>
                    <a:pt x="0" y="0"/>
                  </a:moveTo>
                  <a:lnTo>
                    <a:pt x="5032629" y="0"/>
                  </a:lnTo>
                  <a:lnTo>
                    <a:pt x="50326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744715" y="9504169"/>
            <a:ext cx="3749040" cy="694944"/>
            <a:chOff x="0" y="0"/>
            <a:chExt cx="4998720" cy="9265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98720" cy="926592"/>
            </a:xfrm>
            <a:custGeom>
              <a:avLst/>
              <a:gdLst/>
              <a:ahLst/>
              <a:cxnLst/>
              <a:rect r="r" b="b" t="t" l="l"/>
              <a:pathLst>
                <a:path h="92659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116" r="0" b="-5511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9987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Sklearn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14183" y="1413767"/>
            <a:ext cx="8437883" cy="720347"/>
            <a:chOff x="0" y="0"/>
            <a:chExt cx="11250511" cy="9604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50549" cy="960501"/>
            </a:xfrm>
            <a:custGeom>
              <a:avLst/>
              <a:gdLst/>
              <a:ahLst/>
              <a:cxnLst/>
              <a:rect r="r" b="b" t="t" l="l"/>
              <a:pathLst>
                <a:path h="96050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26880" y="1426464"/>
            <a:ext cx="8412480" cy="694944"/>
            <a:chOff x="0" y="0"/>
            <a:chExt cx="1121664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12166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19"/>
                </a:lnSpc>
              </a:pPr>
              <a:r>
                <a:rPr lang="en-US" sz="3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6.2. Khó Khăn &amp; Giải Pháp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14183" y="2145287"/>
            <a:ext cx="8437883" cy="1525019"/>
            <a:chOff x="0" y="0"/>
            <a:chExt cx="11250511" cy="20333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314183" y="2145287"/>
            <a:ext cx="720347" cy="1525019"/>
            <a:chOff x="0" y="0"/>
            <a:chExt cx="960463" cy="20333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326880" y="2157984"/>
            <a:ext cx="694944" cy="1499616"/>
            <a:chOff x="0" y="0"/>
            <a:chExt cx="926592" cy="19994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149840" y="2194560"/>
            <a:ext cx="7498080" cy="640080"/>
            <a:chOff x="0" y="0"/>
            <a:chExt cx="999744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 parse sai DD/MM vs MM/DD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149840" y="2852928"/>
            <a:ext cx="7498080" cy="768096"/>
            <a:chOff x="0" y="0"/>
            <a:chExt cx="999744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Thêm dayfirst=True trong pd.to_datetime()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14183" y="3754631"/>
            <a:ext cx="8437883" cy="1525019"/>
            <a:chOff x="0" y="0"/>
            <a:chExt cx="11250511" cy="203335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314183" y="3754631"/>
            <a:ext cx="720347" cy="1525019"/>
            <a:chOff x="0" y="0"/>
            <a:chExt cx="960463" cy="203335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326880" y="3767328"/>
            <a:ext cx="694944" cy="1499616"/>
            <a:chOff x="0" y="0"/>
            <a:chExt cx="926592" cy="1999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149840" y="3803904"/>
            <a:ext cx="7498080" cy="640080"/>
            <a:chOff x="0" y="0"/>
            <a:chExt cx="999744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Rolling MA4 bị lẫn giữa các Store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149840" y="4462272"/>
            <a:ext cx="7498080" cy="768096"/>
            <a:chOff x="0" y="0"/>
            <a:chExt cx="9997440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Dùng groupby('Store').transform() thay vì rolling thẳng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314183" y="5363975"/>
            <a:ext cx="8437883" cy="1525019"/>
            <a:chOff x="0" y="0"/>
            <a:chExt cx="11250511" cy="20333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314183" y="5363975"/>
            <a:ext cx="720347" cy="1525019"/>
            <a:chOff x="0" y="0"/>
            <a:chExt cx="960463" cy="203335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326880" y="5376672"/>
            <a:ext cx="694944" cy="1499616"/>
            <a:chOff x="0" y="0"/>
            <a:chExt cx="926592" cy="199948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149840" y="5413248"/>
            <a:ext cx="7498080" cy="640080"/>
            <a:chOff x="0" y="0"/>
            <a:chExt cx="999744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 không lưu được datetime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149840" y="6071616"/>
            <a:ext cx="7498080" cy="768096"/>
            <a:chOff x="0" y="0"/>
            <a:chExt cx="9997440" cy="102412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Chuyển Date về string trước to_sql()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314183" y="6973319"/>
            <a:ext cx="8437883" cy="1525019"/>
            <a:chOff x="0" y="0"/>
            <a:chExt cx="11250511" cy="203335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314183" y="6973319"/>
            <a:ext cx="720347" cy="1525019"/>
            <a:chOff x="0" y="0"/>
            <a:chExt cx="960463" cy="203335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9326880" y="6986016"/>
            <a:ext cx="694944" cy="1499616"/>
            <a:chOff x="0" y="0"/>
            <a:chExt cx="926592" cy="19994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149840" y="7022592"/>
            <a:ext cx="7498080" cy="640080"/>
            <a:chOff x="0" y="0"/>
            <a:chExt cx="9997440" cy="8534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Biểu đồ bị cắt khi lưu PNG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149840" y="7680960"/>
            <a:ext cx="7498080" cy="768096"/>
            <a:chOff x="0" y="0"/>
            <a:chExt cx="9997440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Dùng plt.tight_layout() + bbox_inches='tight'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14183" y="8582663"/>
            <a:ext cx="8437883" cy="1525019"/>
            <a:chOff x="0" y="0"/>
            <a:chExt cx="11250511" cy="203335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250549" cy="2033397"/>
            </a:xfrm>
            <a:custGeom>
              <a:avLst/>
              <a:gdLst/>
              <a:ahLst/>
              <a:cxnLst/>
              <a:rect r="r" b="b" t="t" l="l"/>
              <a:pathLst>
                <a:path h="203339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1F2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9314183" y="8582663"/>
            <a:ext cx="720347" cy="1525019"/>
            <a:chOff x="0" y="0"/>
            <a:chExt cx="960463" cy="203335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60501" cy="2033397"/>
            </a:xfrm>
            <a:custGeom>
              <a:avLst/>
              <a:gdLst/>
              <a:ahLst/>
              <a:cxnLst/>
              <a:rect r="r" b="b" t="t" l="l"/>
              <a:pathLst>
                <a:path h="2033397" w="960501">
                  <a:moveTo>
                    <a:pt x="0" y="0"/>
                  </a:moveTo>
                  <a:lnTo>
                    <a:pt x="960501" y="0"/>
                  </a:lnTo>
                  <a:lnTo>
                    <a:pt x="960501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E84855"/>
            </a:solidFill>
            <a:ln w="25400" cap="sq">
              <a:solidFill>
                <a:srgbClr val="E84855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9326880" y="8595360"/>
            <a:ext cx="694944" cy="1499616"/>
            <a:chOff x="0" y="0"/>
            <a:chExt cx="926592" cy="19994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265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6865" t="0" r="-226865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926592" cy="2056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149840" y="8631936"/>
            <a:ext cx="7498080" cy="640080"/>
            <a:chOff x="0" y="0"/>
            <a:chExt cx="9997440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E84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underfits đỉnh tuần lễ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149840" y="9290304"/>
            <a:ext cx="7498080" cy="768096"/>
            <a:chOff x="0" y="0"/>
            <a:chExt cx="9997440" cy="10241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Giữ nguyên; ghi chú hạn chế trong báo cáo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862709"/>
            </a:xfrm>
            <a:custGeom>
              <a:avLst/>
              <a:gdLst/>
              <a:ahLst/>
              <a:cxnLst/>
              <a:rect r="r" b="b" t="t" l="l"/>
              <a:pathLst>
                <a:path h="186270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F4E79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VII. KẾ HOẠCH &amp; ĐÁNH GIÁ NHÓM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18823" y="1690243"/>
          <a:ext cx="16789400" cy="3051175"/>
        </p:xfrm>
        <a:graphic>
          <a:graphicData uri="http://schemas.openxmlformats.org/drawingml/2006/table">
            <a:tbl>
              <a:tblPr/>
              <a:tblGrid>
                <a:gridCol w="1113583"/>
                <a:gridCol w="4015952"/>
                <a:gridCol w="2746165"/>
                <a:gridCol w="8913700"/>
              </a:tblGrid>
              <a:tr h="762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Họ và tên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Vai trò 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Công việc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627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Nguyễn Thị Trâm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Trưởng nhóm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Phân công, điều phối, code Phase 1–7, fix lỗi, viết báo cáo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Lâm Khả Ái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Thành viên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Code Phase 1–7 fix lỗi, viết báo cáo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7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Trần Thị Yến Nhi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Thành viên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Code Phase 1–7 fix lỗi, viết báo cáo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731520" y="5046218"/>
            <a:ext cx="16824960" cy="953724"/>
            <a:chOff x="0" y="0"/>
            <a:chExt cx="22433280" cy="1271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271632"/>
            </a:xfrm>
            <a:custGeom>
              <a:avLst/>
              <a:gdLst/>
              <a:ahLst/>
              <a:cxnLst/>
              <a:rect r="r" b="b" t="t" l="l"/>
              <a:pathLst>
                <a:path h="127163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71632"/>
                  </a:lnTo>
                  <a:lnTo>
                    <a:pt x="0" y="1271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185" r="0" b="-2772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2433280" cy="1357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1F4E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TỔNG KẾT DỰ ÁN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6022343"/>
            <a:ext cx="6974843" cy="720347"/>
            <a:chOff x="0" y="0"/>
            <a:chExt cx="9299791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6035040"/>
            <a:ext cx="6583680" cy="694944"/>
            <a:chOff x="0" y="0"/>
            <a:chExt cx="877824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7782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Mức độ hoàn thành pipeline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1143" y="6022343"/>
            <a:ext cx="9718043" cy="720347"/>
            <a:chOff x="0" y="0"/>
            <a:chExt cx="12957391" cy="9604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012435" y="6035040"/>
            <a:ext cx="9395460" cy="694944"/>
            <a:chOff x="0" y="0"/>
            <a:chExt cx="1252728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2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-3163" b="-22176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25272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100% – 7 phases đầy đủ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8823" y="6827015"/>
            <a:ext cx="6974843" cy="720347"/>
            <a:chOff x="0" y="0"/>
            <a:chExt cx="9299791" cy="9604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6839712"/>
            <a:ext cx="6583680" cy="694944"/>
            <a:chOff x="0" y="0"/>
            <a:chExt cx="87782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877824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Chất lượng phân tích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851143" y="6827015"/>
            <a:ext cx="9718043" cy="720347"/>
            <a:chOff x="0" y="0"/>
            <a:chExt cx="12957391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985696" y="6852418"/>
            <a:ext cx="9151747" cy="694944"/>
            <a:chOff x="0" y="0"/>
            <a:chExt cx="12202330" cy="926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202330" cy="926592"/>
            </a:xfrm>
            <a:custGeom>
              <a:avLst/>
              <a:gdLst/>
              <a:ahLst/>
              <a:cxnLst/>
              <a:rect r="r" b="b" t="t" l="l"/>
              <a:pathLst>
                <a:path h="926592" w="12202330">
                  <a:moveTo>
                    <a:pt x="0" y="0"/>
                  </a:moveTo>
                  <a:lnTo>
                    <a:pt x="12202330" y="0"/>
                  </a:lnTo>
                  <a:lnTo>
                    <a:pt x="1220233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-5910" b="-2217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220233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8 biểu đồ + phân tích  chi tiết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8823" y="7631687"/>
            <a:ext cx="6974843" cy="720347"/>
            <a:chOff x="0" y="0"/>
            <a:chExt cx="9299791" cy="9604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7644384"/>
            <a:ext cx="6583680" cy="976238"/>
            <a:chOff x="0" y="0"/>
            <a:chExt cx="8778240" cy="13016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78240" cy="1301650"/>
            </a:xfrm>
            <a:custGeom>
              <a:avLst/>
              <a:gdLst/>
              <a:ahLst/>
              <a:cxnLst/>
              <a:rect r="r" b="b" t="t" l="l"/>
              <a:pathLst>
                <a:path h="130165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01650"/>
                  </a:lnTo>
                  <a:lnTo>
                    <a:pt x="0" y="130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77824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Mô</a:t>
              </a: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hình ML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51143" y="7631687"/>
            <a:ext cx="9718043" cy="720347"/>
            <a:chOff x="0" y="0"/>
            <a:chExt cx="12957391" cy="9604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985696" y="7671187"/>
            <a:ext cx="9395460" cy="976238"/>
            <a:chOff x="0" y="0"/>
            <a:chExt cx="12527280" cy="13016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527280" cy="1301650"/>
            </a:xfrm>
            <a:custGeom>
              <a:avLst/>
              <a:gdLst/>
              <a:ahLst/>
              <a:cxnLst/>
              <a:rect r="r" b="b" t="t" l="l"/>
              <a:pathLst>
                <a:path h="1301650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1301650"/>
                  </a:lnTo>
                  <a:lnTo>
                    <a:pt x="0" y="13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65" r="-3163" b="-1290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252728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3 mô hình, chọn Gradient Boosting là tốt nhất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8823" y="8436359"/>
            <a:ext cx="6974843" cy="720347"/>
            <a:chOff x="0" y="0"/>
            <a:chExt cx="9299791" cy="9604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14400" y="8449056"/>
            <a:ext cx="6583680" cy="976238"/>
            <a:chOff x="0" y="0"/>
            <a:chExt cx="8778240" cy="13016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78240" cy="1301650"/>
            </a:xfrm>
            <a:custGeom>
              <a:avLst/>
              <a:gdLst/>
              <a:ahLst/>
              <a:cxnLst/>
              <a:rect r="r" b="b" t="t" l="l"/>
              <a:pathLst>
                <a:path h="130165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01650"/>
                  </a:lnTo>
                  <a:lnTo>
                    <a:pt x="0" y="130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877824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hất lượng code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851143" y="8436359"/>
            <a:ext cx="9718043" cy="720347"/>
            <a:chOff x="0" y="0"/>
            <a:chExt cx="12957391" cy="960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012435" y="8522693"/>
            <a:ext cx="9395460" cy="694944"/>
            <a:chOff x="0" y="0"/>
            <a:chExt cx="1252728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2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-3163" b="-22176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125272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Comment đầy đủ, chạy được trên Google Colab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18823" y="9241031"/>
            <a:ext cx="6974843" cy="720347"/>
            <a:chOff x="0" y="0"/>
            <a:chExt cx="9299791" cy="96046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99829" cy="960501"/>
            </a:xfrm>
            <a:custGeom>
              <a:avLst/>
              <a:gdLst/>
              <a:ahLst/>
              <a:cxnLst/>
              <a:rect r="r" b="b" t="t" l="l"/>
              <a:pathLst>
                <a:path h="960501" w="9299829">
                  <a:moveTo>
                    <a:pt x="0" y="0"/>
                  </a:moveTo>
                  <a:lnTo>
                    <a:pt x="9299829" y="0"/>
                  </a:lnTo>
                  <a:lnTo>
                    <a:pt x="92998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A8C8E8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5" y="9310762"/>
            <a:ext cx="6583680" cy="976238"/>
            <a:chOff x="0" y="0"/>
            <a:chExt cx="8778240" cy="13016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78240" cy="1301650"/>
            </a:xfrm>
            <a:custGeom>
              <a:avLst/>
              <a:gdLst/>
              <a:ahLst/>
              <a:cxnLst/>
              <a:rect r="r" b="b" t="t" l="l"/>
              <a:pathLst>
                <a:path h="130165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01650"/>
                  </a:lnTo>
                  <a:lnTo>
                    <a:pt x="0" y="130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877824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Tiến độ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851143" y="9241031"/>
            <a:ext cx="9718043" cy="720347"/>
            <a:chOff x="0" y="0"/>
            <a:chExt cx="12957391" cy="9604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957429" cy="960501"/>
            </a:xfrm>
            <a:custGeom>
              <a:avLst/>
              <a:gdLst/>
              <a:ahLst/>
              <a:cxnLst/>
              <a:rect r="r" b="b" t="t" l="l"/>
              <a:pathLst>
                <a:path h="960501" w="12957429">
                  <a:moveTo>
                    <a:pt x="0" y="0"/>
                  </a:moveTo>
                  <a:lnTo>
                    <a:pt x="12957429" y="0"/>
                  </a:lnTo>
                  <a:lnTo>
                    <a:pt x="12957429" y="960501"/>
                  </a:lnTo>
                  <a:lnTo>
                    <a:pt x="0" y="960501"/>
                  </a:lnTo>
                  <a:close/>
                </a:path>
              </a:pathLst>
            </a:custGeom>
            <a:solidFill>
              <a:srgbClr val="275D8E"/>
            </a:solidFill>
            <a:ln w="25400" cap="sq">
              <a:solidFill>
                <a:srgbClr val="2DC65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985696" y="9253733"/>
            <a:ext cx="9395460" cy="694944"/>
            <a:chOff x="0" y="0"/>
            <a:chExt cx="12527280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527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2527280">
                  <a:moveTo>
                    <a:pt x="0" y="0"/>
                  </a:moveTo>
                  <a:lnTo>
                    <a:pt x="12527280" y="0"/>
                  </a:lnTo>
                  <a:lnTo>
                    <a:pt x="12527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765" r="-3163" b="-22176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1252728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Hoàn thành đúng deadline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4560"/>
            <a:ext cx="16459200" cy="2194560"/>
            <a:chOff x="0" y="0"/>
            <a:chExt cx="2194560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21945600" cy="308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CẢM ƠN THẦY VÀ CÁC BẠN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4206240"/>
            <a:ext cx="16459200" cy="1463040"/>
            <a:chOff x="0" y="0"/>
            <a:chExt cx="219456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42875"/>
              <a:ext cx="2194560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LẮNG NGHE!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88103" y="5839463"/>
            <a:ext cx="5511803" cy="116843"/>
            <a:chOff x="0" y="0"/>
            <a:chExt cx="7349071" cy="155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49109" cy="155829"/>
            </a:xfrm>
            <a:custGeom>
              <a:avLst/>
              <a:gdLst/>
              <a:ahLst/>
              <a:cxnLst/>
              <a:rect r="r" b="b" t="t" l="l"/>
              <a:pathLst>
                <a:path h="155829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6126480"/>
            <a:ext cx="16459200" cy="822960"/>
            <a:chOff x="0" y="0"/>
            <a:chExt cx="219456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945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A8C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Nhóm 2  –  Walmart Retail Data Pipeline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7040880"/>
            <a:ext cx="16459200" cy="731520"/>
            <a:chOff x="0" y="0"/>
            <a:chExt cx="2194560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7AAB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Nguyễn Thị Trâm</a:t>
              </a:r>
              <a:r>
                <a:rPr lang="en-US" sz="2600" i="true">
                  <a:solidFill>
                    <a:srgbClr val="7AAB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 |  Lâm Khả Ái | Trần Thị Yến Nhi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7955280"/>
            <a:ext cx="16459200" cy="640080"/>
            <a:chOff x="0" y="0"/>
            <a:chExt cx="219456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4A7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kaggle.com/datasets/yasserh/walmart-dataset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2697" y="10045703"/>
            <a:ext cx="18313403" cy="244859"/>
            <a:chOff x="0" y="0"/>
            <a:chExt cx="24417871" cy="3264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2E86AB"/>
            </a:solidFill>
            <a:ln w="25400" cap="sq">
              <a:solidFill>
                <a:srgbClr val="2E86AB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DAHJC4YZ1H4</dc:identifier>
  <dcterms:modified xsi:type="dcterms:W3CDTF">2011-08-01T06:04:30Z</dcterms:modified>
  <cp:revision>1</cp:revision>
  <dc:title>Nhom2_Walmart_DataPipeline.pptx</dc:title>
</cp:coreProperties>
</file>