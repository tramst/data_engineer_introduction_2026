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Paytone One" charset="1" panose="00000500000000000000"/>
      <p:regular r:id="rId40"/>
    </p:embeddedFont>
    <p:embeddedFont>
      <p:font typeface="Calistoga" charset="1" panose="00000500000000000000"/>
      <p:regular r:id="rId41"/>
    </p:embeddedFont>
    <p:embeddedFont>
      <p:font typeface="Calibri (MS) Bold" charset="1" panose="020F0702030404030204"/>
      <p:regular r:id="rId42"/>
    </p:embeddedFont>
    <p:embeddedFont>
      <p:font typeface="Calibri (MS)" charset="1" panose="020F0502020204030204"/>
      <p:regular r:id="rId43"/>
    </p:embeddedFont>
    <p:embeddedFont>
      <p:font typeface="Rokkitt Bold" charset="1" panose="00000800000000000000"/>
      <p:regular r:id="rId45"/>
    </p:embeddedFont>
    <p:embeddedFont>
      <p:font typeface="Noto Sans" charset="1" panose="020B0502040504020204"/>
      <p:regular r:id="rId50"/>
    </p:embeddedFont>
    <p:embeddedFont>
      <p:font typeface="Calibri (MS) Italics" charset="1" panose="020F05020202040A0204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2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3.xml" Type="http://schemas.openxmlformats.org/officeDocument/2006/relationships/notesSlide"/><Relationship Id="rId47" Target="notesSlides/notesSlide4.xml" Type="http://schemas.openxmlformats.org/officeDocument/2006/relationships/notesSlide"/><Relationship Id="rId48" Target="notesSlides/notesSlide5.xml" Type="http://schemas.openxmlformats.org/officeDocument/2006/relationships/notesSlide"/><Relationship Id="rId49" Target="notesSlides/notesSlide6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fonts/font67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3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016757" y="1607718"/>
            <a:ext cx="14391646" cy="1471873"/>
            <a:chOff x="0" y="0"/>
            <a:chExt cx="214579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20"/>
                </a:lnSpc>
              </a:pPr>
              <a:r>
                <a:rPr lang="en-US" sz="6100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NHẬP MÔN KĨ THUẬT DỮ LIỆU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3187620"/>
            <a:ext cx="16093440" cy="955673"/>
            <a:chOff x="0" y="0"/>
            <a:chExt cx="21457920" cy="1274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1274231"/>
            </a:xfrm>
            <a:custGeom>
              <a:avLst/>
              <a:gdLst/>
              <a:ahLst/>
              <a:cxnLst/>
              <a:rect r="r" b="b" t="t" l="l"/>
              <a:pathLst>
                <a:path h="1274231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74231"/>
                  </a:lnTo>
                  <a:lnTo>
                    <a:pt x="0" y="1274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285" r="0" b="-27596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457920" cy="127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EF7C8E"/>
                  </a:solidFill>
                  <a:latin typeface="Calistoga"/>
                  <a:ea typeface="Calistoga"/>
                  <a:cs typeface="Calistoga"/>
                  <a:sym typeface="Calistoga"/>
                </a:rPr>
                <a:t>Chủ đề: WALMART RETAIL DATA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31372" y="5403142"/>
            <a:ext cx="9162415" cy="3382713"/>
            <a:chOff x="0" y="0"/>
            <a:chExt cx="12044440" cy="4446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44479" cy="4446779"/>
            </a:xfrm>
            <a:custGeom>
              <a:avLst/>
              <a:gdLst/>
              <a:ahLst/>
              <a:cxnLst/>
              <a:rect r="r" b="b" t="t" l="l"/>
              <a:pathLst>
                <a:path h="4446779" w="12044479">
                  <a:moveTo>
                    <a:pt x="0" y="0"/>
                  </a:moveTo>
                  <a:lnTo>
                    <a:pt x="12044479" y="0"/>
                  </a:lnTo>
                  <a:lnTo>
                    <a:pt x="12044479" y="4446779"/>
                  </a:lnTo>
                  <a:lnTo>
                    <a:pt x="0" y="4446779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808354" y="5535878"/>
            <a:ext cx="8985434" cy="3249977"/>
            <a:chOff x="0" y="0"/>
            <a:chExt cx="10807028" cy="39088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07028" cy="3908837"/>
            </a:xfrm>
            <a:custGeom>
              <a:avLst/>
              <a:gdLst/>
              <a:ahLst/>
              <a:cxnLst/>
              <a:rect r="r" b="b" t="t" l="l"/>
              <a:pathLst>
                <a:path h="3908837" w="10807028">
                  <a:moveTo>
                    <a:pt x="0" y="0"/>
                  </a:moveTo>
                  <a:lnTo>
                    <a:pt x="10807028" y="0"/>
                  </a:lnTo>
                  <a:lnTo>
                    <a:pt x="10807028" y="3908837"/>
                  </a:lnTo>
                  <a:lnTo>
                    <a:pt x="0" y="390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8" r="-48916" b="-301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09550"/>
              <a:ext cx="10807028" cy="4118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GVH</a:t>
              </a: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D: TS. Lê Trọng Ngọc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Nhóm thực hiện: Nhóm 2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Mã lớp học phần: 420301541001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Tên lớp học phần: DHKHDL20A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Dữ liệu: </a:t>
              </a:r>
              <a:r>
                <a:rPr lang="en-US" sz="3099">
                  <a:solidFill>
                    <a:srgbClr val="A8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kaggle.com/datasets/yasserh/walmart-dataset 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27447" y="400249"/>
            <a:ext cx="3478630" cy="991410"/>
          </a:xfrm>
          <a:custGeom>
            <a:avLst/>
            <a:gdLst/>
            <a:ahLst/>
            <a:cxnLst/>
            <a:rect r="r" b="b" t="t" l="l"/>
            <a:pathLst>
              <a:path h="991410" w="3478630">
                <a:moveTo>
                  <a:pt x="0" y="0"/>
                </a:moveTo>
                <a:lnTo>
                  <a:pt x="3478630" y="0"/>
                </a:lnTo>
                <a:lnTo>
                  <a:pt x="3478630" y="991410"/>
                </a:lnTo>
                <a:lnTo>
                  <a:pt x="0" y="991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39181" y="528133"/>
            <a:ext cx="9771754" cy="7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BỘ CÔNG THƯƠNG</a:t>
            </a: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TRƯỜNG ĐẠI HỌC CÔNG NGHIỆP THÀNH PHỐ HỒ CHÍ MINH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5860" y="4198183"/>
            <a:ext cx="16093440" cy="1330960"/>
            <a:chOff x="0" y="0"/>
            <a:chExt cx="21457920" cy="17746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57920" cy="1774613"/>
            </a:xfrm>
            <a:custGeom>
              <a:avLst/>
              <a:gdLst/>
              <a:ahLst/>
              <a:cxnLst/>
              <a:rect r="r" b="b" t="t" l="l"/>
              <a:pathLst>
                <a:path h="1774613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74613"/>
                  </a:lnTo>
                  <a:lnTo>
                    <a:pt x="0" y="1774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254" r="0" b="-1699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457920" cy="1774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EF7C8E"/>
                  </a:solidFill>
                  <a:latin typeface="Calistoga"/>
                  <a:ea typeface="Calistoga"/>
                  <a:cs typeface="Calistoga"/>
                  <a:sym typeface="Calistoga"/>
                </a:rPr>
                <a:t>(Pipeline Xử Lý Dữ Liệu Bán Lẻ Walmart)</a:t>
              </a:r>
            </a:p>
            <a:p>
              <a:pPr algn="ctr">
                <a:lnSpc>
                  <a:spcPts val="40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447" y="400249"/>
            <a:ext cx="3845526" cy="1095975"/>
          </a:xfrm>
          <a:custGeom>
            <a:avLst/>
            <a:gdLst/>
            <a:ahLst/>
            <a:cxnLst/>
            <a:rect r="r" b="b" t="t" l="l"/>
            <a:pathLst>
              <a:path h="1095975" w="3845526">
                <a:moveTo>
                  <a:pt x="0" y="0"/>
                </a:moveTo>
                <a:lnTo>
                  <a:pt x="3845525" y="0"/>
                </a:lnTo>
                <a:lnTo>
                  <a:pt x="3845525" y="1095975"/>
                </a:lnTo>
                <a:lnTo>
                  <a:pt x="0" y="1095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08058" y="558844"/>
            <a:ext cx="9676310" cy="77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577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BỘ CÔNG THƯƠNG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577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TRƯỜNG ĐẠI HỌC CÔNG NGHIỆP THÀNH PHỐ HỒ CHÍ MINH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701506" y="3454132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5" y="0"/>
                </a:lnTo>
                <a:lnTo>
                  <a:pt x="980185" y="980185"/>
                </a:lnTo>
                <a:lnTo>
                  <a:pt x="0" y="98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81691" y="3464800"/>
            <a:ext cx="12278878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Nguyễn Thị Trâm - 24689661 (Trưởng nhóm)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58396" y="5290367"/>
            <a:ext cx="6345512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Lâm Khả Ái - 24669421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8396" y="7116627"/>
            <a:ext cx="7372631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Trần Thị Yến Nhi - 24675011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701506" y="5279699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5" y="0"/>
                </a:lnTo>
                <a:lnTo>
                  <a:pt x="980185" y="980186"/>
                </a:lnTo>
                <a:lnTo>
                  <a:pt x="0" y="980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88209" y="7107610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5" y="0"/>
                </a:lnTo>
                <a:lnTo>
                  <a:pt x="980185" y="980185"/>
                </a:lnTo>
                <a:lnTo>
                  <a:pt x="0" y="98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13445" y="1851716"/>
            <a:ext cx="4061109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CFFFF"/>
                </a:solidFill>
                <a:latin typeface="Rokkitt Bold"/>
                <a:ea typeface="Rokkitt Bold"/>
                <a:cs typeface="Rokkitt Bold"/>
                <a:sym typeface="Rokkitt Bold"/>
              </a:rPr>
              <a:t>NHÓM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5133337" cy="10312403"/>
            <a:chOff x="0" y="0"/>
            <a:chExt cx="684444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44487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6844487">
                  <a:moveTo>
                    <a:pt x="0" y="0"/>
                  </a:moveTo>
                  <a:lnTo>
                    <a:pt x="6844487" y="0"/>
                  </a:lnTo>
                  <a:lnTo>
                    <a:pt x="6844487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2743200"/>
            <a:ext cx="4754880" cy="3894324"/>
            <a:chOff x="0" y="0"/>
            <a:chExt cx="6339840" cy="5192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39840" cy="5192432"/>
            </a:xfrm>
            <a:custGeom>
              <a:avLst/>
              <a:gdLst/>
              <a:ahLst/>
              <a:cxnLst/>
              <a:rect r="r" b="b" t="t" l="l"/>
              <a:pathLst>
                <a:path h="51924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192432"/>
                  </a:lnTo>
                  <a:lnTo>
                    <a:pt x="0" y="5192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60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6339840" cy="5354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239"/>
                </a:lnSpc>
              </a:pPr>
              <a:r>
                <a:rPr lang="en-US" sz="7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Nội dung thuyết trình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22343" y="993143"/>
            <a:ext cx="1031243" cy="903227"/>
            <a:chOff x="0" y="0"/>
            <a:chExt cx="1374991" cy="12043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35040" y="1005840"/>
            <a:ext cx="1005840" cy="877824"/>
            <a:chOff x="0" y="0"/>
            <a:chExt cx="1341120" cy="1170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0" y="914400"/>
            <a:ext cx="10424160" cy="1060704"/>
            <a:chOff x="0" y="0"/>
            <a:chExt cx="13898880" cy="1414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QUAN DỰ ÁN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22343" y="2236727"/>
            <a:ext cx="1031243" cy="903227"/>
            <a:chOff x="0" y="0"/>
            <a:chExt cx="1374991" cy="12043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0" y="2249424"/>
            <a:ext cx="1005840" cy="877824"/>
            <a:chOff x="0" y="0"/>
            <a:chExt cx="134112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0" y="2157984"/>
            <a:ext cx="10424160" cy="1060704"/>
            <a:chOff x="0" y="0"/>
            <a:chExt cx="1389888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ĐỘ THỰC HIỆN CHI TIẾT (Phase 1–5)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22343" y="3480311"/>
            <a:ext cx="1031243" cy="903227"/>
            <a:chOff x="0" y="0"/>
            <a:chExt cx="1374991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035040" y="3493008"/>
            <a:ext cx="1005840" cy="877824"/>
            <a:chOff x="0" y="0"/>
            <a:chExt cx="1341120" cy="1170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15200" y="3401568"/>
            <a:ext cx="10424160" cy="1060704"/>
            <a:chOff x="0" y="0"/>
            <a:chExt cx="13898880" cy="14142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PHÂN TÍCH DỮ LIỆU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022343" y="4723895"/>
            <a:ext cx="1031243" cy="903227"/>
            <a:chOff x="0" y="0"/>
            <a:chExt cx="1374991" cy="12043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035040" y="4736592"/>
            <a:ext cx="1005840" cy="877824"/>
            <a:chOff x="0" y="0"/>
            <a:chExt cx="1341120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0" y="4645152"/>
            <a:ext cx="10424160" cy="1060704"/>
            <a:chOff x="0" y="0"/>
            <a:chExt cx="13898880" cy="14142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 HÌNH ML DỰ BÁO</a:t>
              </a: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(Phase 6)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22343" y="5967479"/>
            <a:ext cx="1031243" cy="903227"/>
            <a:chOff x="0" y="0"/>
            <a:chExt cx="1374991" cy="12043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035040" y="5980176"/>
            <a:ext cx="1005840" cy="877824"/>
            <a:chOff x="0" y="0"/>
            <a:chExt cx="134112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0" y="5888736"/>
            <a:ext cx="10424160" cy="1060704"/>
            <a:chOff x="0" y="0"/>
            <a:chExt cx="13898880" cy="14142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VÀ FILE OUTPUT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022343" y="7211063"/>
            <a:ext cx="1031243" cy="903227"/>
            <a:chOff x="0" y="0"/>
            <a:chExt cx="1374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035040" y="7223760"/>
            <a:ext cx="1005840" cy="877824"/>
            <a:chOff x="0" y="0"/>
            <a:chExt cx="1341120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0" y="7132320"/>
            <a:ext cx="10424160" cy="1060704"/>
            <a:chOff x="0" y="0"/>
            <a:chExt cx="13898880" cy="14142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CÔNG CỤ VÀ KHÓ KHĂN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022343" y="8454647"/>
            <a:ext cx="1031243" cy="903227"/>
            <a:chOff x="0" y="0"/>
            <a:chExt cx="1374991" cy="120430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035040" y="8467344"/>
            <a:ext cx="1005840" cy="877824"/>
            <a:chOff x="0" y="0"/>
            <a:chExt cx="1341120" cy="11704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VII.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315200" y="8375904"/>
            <a:ext cx="10424160" cy="1060704"/>
            <a:chOff x="0" y="0"/>
            <a:chExt cx="13898880" cy="14142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 HOẠCH VÀ ĐÁNH GIÁ NHÓM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184020" cy="9424150"/>
          </a:xfrm>
          <a:custGeom>
            <a:avLst/>
            <a:gdLst/>
            <a:ahLst/>
            <a:cxnLst/>
            <a:rect r="r" b="b" t="t" l="l"/>
            <a:pathLst>
              <a:path h="9424150" w="19184020">
                <a:moveTo>
                  <a:pt x="0" y="0"/>
                </a:moveTo>
                <a:lnTo>
                  <a:pt x="19184020" y="0"/>
                </a:lnTo>
                <a:lnTo>
                  <a:pt x="19184020" y="9424150"/>
                </a:lnTo>
                <a:lnTo>
                  <a:pt x="0" y="942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I. TỔNG QUAN DỰ ÁN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01585" y="3600417"/>
          <a:ext cx="17190720" cy="5917248"/>
        </p:xfrm>
        <a:graphic>
          <a:graphicData uri="http://schemas.openxmlformats.org/drawingml/2006/table">
            <a:tbl>
              <a:tblPr/>
              <a:tblGrid>
                <a:gridCol w="3301791"/>
                <a:gridCol w="13888929"/>
              </a:tblGrid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Hạng mục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Thông tin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Tên dự án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 Retail Data Pipeline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 Retail Dataset – kaggle.com/datasets/yasserh/walmart-dataset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Kích thước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dòng × 8 cột | 45 cửa hàng | 2010–2012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Các cột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Store, Date, Weekly_Sales, Holiday_Flag, Temperature, Fuel_Price, CPI, Unemployment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Công nghệ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Python, Pandas, NumPy, Matplotlib, Seaborn, SQLite3, Scikit-learn, Google Colab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7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Trạng thái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hoàn thành – 7 phases đã xong 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601585" y="888997"/>
            <a:ext cx="2194560" cy="731520"/>
            <a:chOff x="0" y="0"/>
            <a:chExt cx="292608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926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095333"/>
            <a:ext cx="1945643" cy="848363"/>
            <a:chOff x="0" y="0"/>
            <a:chExt cx="25941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41397" y="2108029"/>
            <a:ext cx="1920240" cy="822960"/>
            <a:chOff x="0" y="0"/>
            <a:chExt cx="25603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Thu thập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74343" y="2095333"/>
            <a:ext cx="381000" cy="822960"/>
            <a:chOff x="0" y="0"/>
            <a:chExt cx="5080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64868" y="2095333"/>
            <a:ext cx="1945643" cy="848363"/>
            <a:chOff x="0" y="0"/>
            <a:chExt cx="2594191" cy="1131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377565" y="2108029"/>
            <a:ext cx="1920240" cy="822960"/>
            <a:chOff x="0" y="0"/>
            <a:chExt cx="256032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Làm sạch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29561" y="2108029"/>
            <a:ext cx="384684" cy="822960"/>
            <a:chOff x="0" y="0"/>
            <a:chExt cx="512912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912">
                  <a:moveTo>
                    <a:pt x="0" y="0"/>
                  </a:moveTo>
                  <a:lnTo>
                    <a:pt x="512912" y="0"/>
                  </a:lnTo>
                  <a:lnTo>
                    <a:pt x="512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826" t="0" r="-21013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12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742820" y="2095333"/>
            <a:ext cx="1945643" cy="848363"/>
            <a:chOff x="0" y="0"/>
            <a:chExt cx="2594191" cy="1131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755517" y="2108029"/>
            <a:ext cx="1920240" cy="822960"/>
            <a:chOff x="0" y="0"/>
            <a:chExt cx="256032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Biến đổi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75757" y="2108029"/>
            <a:ext cx="421573" cy="822960"/>
            <a:chOff x="0" y="0"/>
            <a:chExt cx="562097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2097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2097">
                  <a:moveTo>
                    <a:pt x="0" y="0"/>
                  </a:moveTo>
                  <a:lnTo>
                    <a:pt x="562097" y="0"/>
                  </a:lnTo>
                  <a:lnTo>
                    <a:pt x="562097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928" t="0" r="-18299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562097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88514" y="2069929"/>
            <a:ext cx="1945643" cy="848363"/>
            <a:chOff x="0" y="0"/>
            <a:chExt cx="259419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101210" y="2082626"/>
            <a:ext cx="1920240" cy="822960"/>
            <a:chOff x="0" y="0"/>
            <a:chExt cx="25603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Lưu trữ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53207" y="2108029"/>
            <a:ext cx="381000" cy="822960"/>
            <a:chOff x="0" y="0"/>
            <a:chExt cx="5080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30387" y="2108029"/>
            <a:ext cx="1945643" cy="848363"/>
            <a:chOff x="0" y="0"/>
            <a:chExt cx="2594191" cy="11311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443084" y="2120726"/>
            <a:ext cx="1920240" cy="822960"/>
            <a:chOff x="0" y="0"/>
            <a:chExt cx="256032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Phân tích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95080" y="2108029"/>
            <a:ext cx="403774" cy="822960"/>
            <a:chOff x="0" y="0"/>
            <a:chExt cx="538366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8366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8366">
                  <a:moveTo>
                    <a:pt x="0" y="0"/>
                  </a:moveTo>
                  <a:lnTo>
                    <a:pt x="538366" y="0"/>
                  </a:lnTo>
                  <a:lnTo>
                    <a:pt x="53836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534" t="0" r="-19547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538366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98855" y="2095323"/>
            <a:ext cx="1945643" cy="848363"/>
            <a:chOff x="0" y="0"/>
            <a:chExt cx="2594191" cy="1131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811552" y="2108020"/>
            <a:ext cx="1920240" cy="822960"/>
            <a:chOff x="0" y="0"/>
            <a:chExt cx="256032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 hình ML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839033" y="2133433"/>
            <a:ext cx="381000" cy="822960"/>
            <a:chOff x="0" y="0"/>
            <a:chExt cx="5080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220033" y="2095333"/>
            <a:ext cx="1637348" cy="848363"/>
            <a:chOff x="0" y="0"/>
            <a:chExt cx="2183130" cy="11311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83168" cy="1131189"/>
            </a:xfrm>
            <a:custGeom>
              <a:avLst/>
              <a:gdLst/>
              <a:ahLst/>
              <a:cxnLst/>
              <a:rect r="r" b="b" t="t" l="l"/>
              <a:pathLst>
                <a:path h="1131189" w="2183168">
                  <a:moveTo>
                    <a:pt x="0" y="0"/>
                  </a:moveTo>
                  <a:lnTo>
                    <a:pt x="2183168" y="0"/>
                  </a:lnTo>
                  <a:lnTo>
                    <a:pt x="2183168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230718" y="2108029"/>
            <a:ext cx="1615970" cy="822960"/>
            <a:chOff x="0" y="0"/>
            <a:chExt cx="2154626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54626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54626">
                  <a:moveTo>
                    <a:pt x="0" y="0"/>
                  </a:moveTo>
                  <a:lnTo>
                    <a:pt x="2154626" y="0"/>
                  </a:lnTo>
                  <a:lnTo>
                    <a:pt x="215462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6" t="0" r="-24755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2154626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Xuất KQ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quan tiến độ dự 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633223"/>
            <a:ext cx="2219963" cy="939803"/>
            <a:chOff x="0" y="0"/>
            <a:chExt cx="2959951" cy="1253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645920"/>
            <a:ext cx="2194560" cy="914400"/>
            <a:chOff x="0" y="0"/>
            <a:chExt cx="292608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00400" y="1645920"/>
            <a:ext cx="10607040" cy="914400"/>
            <a:chOff x="0" y="0"/>
            <a:chExt cx="141427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Ingestion – Thu thập dữ liệu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69063" y="1816103"/>
            <a:ext cx="3317243" cy="574043"/>
            <a:chOff x="0" y="0"/>
            <a:chExt cx="4422991" cy="765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069063" y="1816103"/>
            <a:ext cx="3317243" cy="574043"/>
            <a:chOff x="0" y="0"/>
            <a:chExt cx="4422991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0" y="1645920"/>
            <a:ext cx="3474720" cy="914400"/>
            <a:chOff x="0" y="0"/>
            <a:chExt cx="463296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18823" y="2840231"/>
            <a:ext cx="2219963" cy="939803"/>
            <a:chOff x="0" y="0"/>
            <a:chExt cx="295995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2852928"/>
            <a:ext cx="2194560" cy="914400"/>
            <a:chOff x="0" y="0"/>
            <a:chExt cx="292608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00400" y="2852928"/>
            <a:ext cx="10607040" cy="914400"/>
            <a:chOff x="0" y="0"/>
            <a:chExt cx="1414272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Cleaning – Làm sạch dữ liệu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69063" y="3023111"/>
            <a:ext cx="3317243" cy="574043"/>
            <a:chOff x="0" y="0"/>
            <a:chExt cx="4422991" cy="765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4069063" y="3023111"/>
            <a:ext cx="3317243" cy="574043"/>
            <a:chOff x="0" y="0"/>
            <a:chExt cx="4422991" cy="765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990320" y="2852928"/>
            <a:ext cx="3474720" cy="914400"/>
            <a:chOff x="0" y="0"/>
            <a:chExt cx="463296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4047239"/>
            <a:ext cx="2219963" cy="939803"/>
            <a:chOff x="0" y="0"/>
            <a:chExt cx="295995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4059936"/>
            <a:ext cx="2194560" cy="914400"/>
            <a:chOff x="0" y="0"/>
            <a:chExt cx="292608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00400" y="4059936"/>
            <a:ext cx="10607040" cy="914400"/>
            <a:chOff x="0" y="0"/>
            <a:chExt cx="141427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Transformation – Feature Engineering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069063" y="4230119"/>
            <a:ext cx="3317243" cy="574043"/>
            <a:chOff x="0" y="0"/>
            <a:chExt cx="4422991" cy="7653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069063" y="4230119"/>
            <a:ext cx="3317243" cy="574043"/>
            <a:chOff x="0" y="0"/>
            <a:chExt cx="4422991" cy="765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990320" y="4059936"/>
            <a:ext cx="3474720" cy="914400"/>
            <a:chOff x="0" y="0"/>
            <a:chExt cx="463296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5254247"/>
            <a:ext cx="2219963" cy="939803"/>
            <a:chOff x="0" y="0"/>
            <a:chExt cx="2959951" cy="1253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5266944"/>
            <a:ext cx="2194560" cy="914400"/>
            <a:chOff x="0" y="0"/>
            <a:chExt cx="292608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200400" y="5266944"/>
            <a:ext cx="10607040" cy="914400"/>
            <a:chOff x="0" y="0"/>
            <a:chExt cx="1414272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Storage – SQLite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069063" y="5437127"/>
            <a:ext cx="3317243" cy="574043"/>
            <a:chOff x="0" y="0"/>
            <a:chExt cx="4422991" cy="7653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069063" y="5437127"/>
            <a:ext cx="3317243" cy="574043"/>
            <a:chOff x="0" y="0"/>
            <a:chExt cx="4422991" cy="7653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990320" y="5266944"/>
            <a:ext cx="3474720" cy="914400"/>
            <a:chOff x="0" y="0"/>
            <a:chExt cx="463296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18823" y="6461255"/>
            <a:ext cx="2219963" cy="939803"/>
            <a:chOff x="0" y="0"/>
            <a:chExt cx="2959951" cy="12530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31520" y="6473952"/>
            <a:ext cx="2194560" cy="914400"/>
            <a:chOff x="0" y="0"/>
            <a:chExt cx="292608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200400" y="6473952"/>
            <a:ext cx="10607040" cy="914400"/>
            <a:chOff x="0" y="0"/>
            <a:chExt cx="1414272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 &amp; Visualization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069063" y="6644135"/>
            <a:ext cx="3317243" cy="574043"/>
            <a:chOff x="0" y="0"/>
            <a:chExt cx="4422991" cy="7653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069063" y="6644135"/>
            <a:ext cx="3317243" cy="574043"/>
            <a:chOff x="0" y="0"/>
            <a:chExt cx="4422991" cy="7653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990320" y="6473952"/>
            <a:ext cx="3474720" cy="914400"/>
            <a:chOff x="0" y="0"/>
            <a:chExt cx="463296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18823" y="7668263"/>
            <a:ext cx="2219963" cy="939803"/>
            <a:chOff x="0" y="0"/>
            <a:chExt cx="2959951" cy="12530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31520" y="7680960"/>
            <a:ext cx="2194560" cy="914400"/>
            <a:chOff x="0" y="0"/>
            <a:chExt cx="292608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6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200400" y="7680960"/>
            <a:ext cx="10607040" cy="914400"/>
            <a:chOff x="0" y="0"/>
            <a:chExt cx="1414272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Modeling – Dự báo doanh thu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069063" y="7851143"/>
            <a:ext cx="3317243" cy="574043"/>
            <a:chOff x="0" y="0"/>
            <a:chExt cx="4422991" cy="76539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4069063" y="7851143"/>
            <a:ext cx="3317243" cy="574043"/>
            <a:chOff x="0" y="0"/>
            <a:chExt cx="4422991" cy="7653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990320" y="7680960"/>
            <a:ext cx="3474720" cy="914400"/>
            <a:chOff x="0" y="0"/>
            <a:chExt cx="4632960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18823" y="8875271"/>
            <a:ext cx="2219963" cy="939803"/>
            <a:chOff x="0" y="0"/>
            <a:chExt cx="2959951" cy="125307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731520" y="8887968"/>
            <a:ext cx="2194560" cy="914400"/>
            <a:chOff x="0" y="0"/>
            <a:chExt cx="2926080" cy="1219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7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200400" y="8887968"/>
            <a:ext cx="10607040" cy="914400"/>
            <a:chOff x="0" y="0"/>
            <a:chExt cx="14142720" cy="12192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 &amp; Export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069063" y="9058151"/>
            <a:ext cx="3317243" cy="574043"/>
            <a:chOff x="0" y="0"/>
            <a:chExt cx="4422991" cy="76539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069063" y="9058151"/>
            <a:ext cx="3317243" cy="574043"/>
            <a:chOff x="0" y="0"/>
            <a:chExt cx="4422991" cy="76539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990320" y="8887968"/>
            <a:ext cx="3474720" cy="914400"/>
            <a:chOff x="0" y="0"/>
            <a:chExt cx="463296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70831" y="1726697"/>
            <a:ext cx="6810920" cy="738662"/>
            <a:chOff x="0" y="0"/>
            <a:chExt cx="7126826" cy="7729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26864" cy="772961"/>
            </a:xfrm>
            <a:custGeom>
              <a:avLst/>
              <a:gdLst/>
              <a:ahLst/>
              <a:cxnLst/>
              <a:rect r="r" b="b" t="t" l="l"/>
              <a:pathLst>
                <a:path h="772961" w="7126864">
                  <a:moveTo>
                    <a:pt x="0" y="0"/>
                  </a:moveTo>
                  <a:lnTo>
                    <a:pt x="7126864" y="0"/>
                  </a:lnTo>
                  <a:lnTo>
                    <a:pt x="7126864" y="772961"/>
                  </a:lnTo>
                  <a:lnTo>
                    <a:pt x="0" y="77296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70831" y="1742247"/>
            <a:ext cx="6810920" cy="723113"/>
            <a:chOff x="0" y="0"/>
            <a:chExt cx="7263028" cy="7711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63027" cy="771113"/>
            </a:xfrm>
            <a:custGeom>
              <a:avLst/>
              <a:gdLst/>
              <a:ahLst/>
              <a:cxnLst/>
              <a:rect r="r" b="b" t="t" l="l"/>
              <a:pathLst>
                <a:path h="771113" w="7263027">
                  <a:moveTo>
                    <a:pt x="0" y="0"/>
                  </a:moveTo>
                  <a:lnTo>
                    <a:pt x="7263027" y="0"/>
                  </a:lnTo>
                  <a:lnTo>
                    <a:pt x="7263027" y="771113"/>
                  </a:lnTo>
                  <a:lnTo>
                    <a:pt x="0" y="7711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796" r="-44362" b="-2360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7263028" cy="8568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 — Data Ingestion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256968" y="2808260"/>
          <a:ext cx="13774064" cy="6089789"/>
        </p:xfrm>
        <a:graphic>
          <a:graphicData uri="http://schemas.openxmlformats.org/drawingml/2006/table">
            <a:tbl>
              <a:tblPr/>
              <a:tblGrid>
                <a:gridCol w="5716543"/>
                <a:gridCol w="8057521"/>
              </a:tblGrid>
              <a:tr h="8107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3"/>
                        </a:lnSpc>
                        <a:defRPr/>
                      </a:pPr>
                      <a:r>
                        <a:rPr lang="en-US" sz="2803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Nhiệm vụ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3"/>
                        </a:lnSpc>
                        <a:defRPr/>
                      </a:pPr>
                      <a:r>
                        <a:rPr lang="en-US" sz="2803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Kết quả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3516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pd.read_csv() - Đọc dữ liệu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dòng × 8 cột, ~350 KB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2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df.info() - Kiểm tra schema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 dạng object, cần chuyển datetime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91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df.describe() - Thống kê mô tả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phối 5 biến số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53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Xác định vấn đề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3"/>
                        </a:lnSpc>
                        <a:defRPr/>
                      </a:pPr>
                      <a:r>
                        <a:rPr lang="en-US" sz="280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 stores, Holiday_Flag chỉ 0/1, Date cần chuẩn hoá</a:t>
                      </a:r>
                      <a:endParaRPr lang="en-US" sz="1100"/>
                    </a:p>
                  </a:txBody>
                  <a:tcPr marL="116516" marR="116516" marT="116516" marB="116516" anchor="t">
                    <a:lnL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09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7092233"/>
          </a:xfrm>
          <a:custGeom>
            <a:avLst/>
            <a:gdLst/>
            <a:ahLst/>
            <a:cxnLst/>
            <a:rect r="r" b="b" t="t" l="l"/>
            <a:pathLst>
              <a:path h="7092233" w="9144000">
                <a:moveTo>
                  <a:pt x="0" y="0"/>
                </a:moveTo>
                <a:lnTo>
                  <a:pt x="9144000" y="0"/>
                </a:lnTo>
                <a:lnTo>
                  <a:pt x="9144000" y="7092233"/>
                </a:lnTo>
                <a:lnTo>
                  <a:pt x="0" y="7092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10010" y="1148722"/>
            <a:ext cx="9554248" cy="8109578"/>
          </a:xfrm>
          <a:custGeom>
            <a:avLst/>
            <a:gdLst/>
            <a:ahLst/>
            <a:cxnLst/>
            <a:rect r="r" b="b" t="t" l="l"/>
            <a:pathLst>
              <a:path h="8109578" w="9554248">
                <a:moveTo>
                  <a:pt x="0" y="0"/>
                </a:moveTo>
                <a:lnTo>
                  <a:pt x="9554248" y="0"/>
                </a:lnTo>
                <a:lnTo>
                  <a:pt x="9554248" y="8109578"/>
                </a:lnTo>
                <a:lnTo>
                  <a:pt x="0" y="8109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83077" y="3755845"/>
            <a:ext cx="879497" cy="537629"/>
            <a:chOff x="0" y="0"/>
            <a:chExt cx="231637" cy="141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637" cy="141598"/>
            </a:xfrm>
            <a:custGeom>
              <a:avLst/>
              <a:gdLst/>
              <a:ahLst/>
              <a:cxnLst/>
              <a:rect r="r" b="b" t="t" l="l"/>
              <a:pathLst>
                <a:path h="141598" w="231637">
                  <a:moveTo>
                    <a:pt x="0" y="0"/>
                  </a:moveTo>
                  <a:lnTo>
                    <a:pt x="231637" y="0"/>
                  </a:lnTo>
                  <a:lnTo>
                    <a:pt x="231637" y="141598"/>
                  </a:lnTo>
                  <a:lnTo>
                    <a:pt x="0" y="14159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1637" cy="17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Object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00292" y="1869075"/>
            <a:ext cx="6265190" cy="775258"/>
            <a:chOff x="0" y="0"/>
            <a:chExt cx="7960681" cy="985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0720" cy="985097"/>
            </a:xfrm>
            <a:custGeom>
              <a:avLst/>
              <a:gdLst/>
              <a:ahLst/>
              <a:cxnLst/>
              <a:rect r="r" b="b" t="t" l="l"/>
              <a:pathLst>
                <a:path h="985097" w="7960720">
                  <a:moveTo>
                    <a:pt x="0" y="0"/>
                  </a:moveTo>
                  <a:lnTo>
                    <a:pt x="7960720" y="0"/>
                  </a:lnTo>
                  <a:lnTo>
                    <a:pt x="7960720" y="985097"/>
                  </a:lnTo>
                  <a:lnTo>
                    <a:pt x="0" y="98509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85923" y="1885467"/>
            <a:ext cx="9260325" cy="758866"/>
            <a:chOff x="0" y="0"/>
            <a:chExt cx="11766361" cy="9642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66361" cy="964231"/>
            </a:xfrm>
            <a:custGeom>
              <a:avLst/>
              <a:gdLst/>
              <a:ahLst/>
              <a:cxnLst/>
              <a:rect r="r" b="b" t="t" l="l"/>
              <a:pathLst>
                <a:path h="964231" w="11766361">
                  <a:moveTo>
                    <a:pt x="0" y="0"/>
                  </a:moveTo>
                  <a:lnTo>
                    <a:pt x="11766361" y="0"/>
                  </a:lnTo>
                  <a:lnTo>
                    <a:pt x="11766361" y="964231"/>
                  </a:lnTo>
                  <a:lnTo>
                    <a:pt x="0" y="964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82" r="10889" b="-168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1766361" cy="1030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— Data Cleaning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737098" y="3130108"/>
          <a:ext cx="14813803" cy="5836998"/>
        </p:xfrm>
        <a:graphic>
          <a:graphicData uri="http://schemas.openxmlformats.org/drawingml/2006/table">
            <a:tbl>
              <a:tblPr/>
              <a:tblGrid>
                <a:gridCol w="3895724"/>
                <a:gridCol w="4956978"/>
                <a:gridCol w="5961101"/>
              </a:tblGrid>
              <a:tr h="8075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Bước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Kết quả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Kỹ thuật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2015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Missing Values (median)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gia tri null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isnull().sum() → median imputation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9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Duplicates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Không có dòng trùng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duplicated() theo (Store, Date)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5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Types (datetime)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Object -&gt;Datetime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pd.to_datetime(dayfirst=True); astype()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8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Business Rules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Loại bỏ doanh thu âm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Lọc Weekly_Sales &lt; 0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76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Outliers (IQR)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Phát hiện; giữ lại vì có ý nghĩa thực tế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Q1–1.5×IQR đến Q3+1.5×IQR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2302" y="0"/>
            <a:ext cx="8003452" cy="10306199"/>
          </a:xfrm>
          <a:custGeom>
            <a:avLst/>
            <a:gdLst/>
            <a:ahLst/>
            <a:cxnLst/>
            <a:rect r="r" b="b" t="t" l="l"/>
            <a:pathLst>
              <a:path h="10306199" w="8003452">
                <a:moveTo>
                  <a:pt x="0" y="0"/>
                </a:moveTo>
                <a:lnTo>
                  <a:pt x="8003451" y="0"/>
                </a:lnTo>
                <a:lnTo>
                  <a:pt x="8003451" y="10306199"/>
                </a:lnTo>
                <a:lnTo>
                  <a:pt x="0" y="1030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0891" y="179574"/>
            <a:ext cx="8775378" cy="9546936"/>
          </a:xfrm>
          <a:custGeom>
            <a:avLst/>
            <a:gdLst/>
            <a:ahLst/>
            <a:cxnLst/>
            <a:rect r="r" b="b" t="t" l="l"/>
            <a:pathLst>
              <a:path h="9546936" w="8775378">
                <a:moveTo>
                  <a:pt x="0" y="0"/>
                </a:moveTo>
                <a:lnTo>
                  <a:pt x="8775378" y="0"/>
                </a:lnTo>
                <a:lnTo>
                  <a:pt x="8775378" y="9546936"/>
                </a:lnTo>
                <a:lnTo>
                  <a:pt x="0" y="9546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8" b="-1443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710" y="2010201"/>
            <a:ext cx="18008290" cy="4637135"/>
          </a:xfrm>
          <a:custGeom>
            <a:avLst/>
            <a:gdLst/>
            <a:ahLst/>
            <a:cxnLst/>
            <a:rect r="r" b="b" t="t" l="l"/>
            <a:pathLst>
              <a:path h="4637135" w="18008290">
                <a:moveTo>
                  <a:pt x="0" y="0"/>
                </a:moveTo>
                <a:lnTo>
                  <a:pt x="18008290" y="0"/>
                </a:lnTo>
                <a:lnTo>
                  <a:pt x="18008290" y="4637135"/>
                </a:lnTo>
                <a:lnTo>
                  <a:pt x="0" y="4637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9504" y="1736334"/>
            <a:ext cx="8290739" cy="824889"/>
            <a:chOff x="0" y="0"/>
            <a:chExt cx="18467546" cy="1837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67584" cy="1837471"/>
            </a:xfrm>
            <a:custGeom>
              <a:avLst/>
              <a:gdLst/>
              <a:ahLst/>
              <a:cxnLst/>
              <a:rect r="r" b="b" t="t" l="l"/>
              <a:pathLst>
                <a:path h="1837471" w="18467584">
                  <a:moveTo>
                    <a:pt x="0" y="0"/>
                  </a:moveTo>
                  <a:lnTo>
                    <a:pt x="18467584" y="0"/>
                  </a:lnTo>
                  <a:lnTo>
                    <a:pt x="18467584" y="1837471"/>
                  </a:lnTo>
                  <a:lnTo>
                    <a:pt x="0" y="183747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120215" y="1738263"/>
            <a:ext cx="6969318" cy="822960"/>
            <a:chOff x="0" y="0"/>
            <a:chExt cx="92924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2423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92423">
                  <a:moveTo>
                    <a:pt x="0" y="0"/>
                  </a:moveTo>
                  <a:lnTo>
                    <a:pt x="9292423" y="0"/>
                  </a:lnTo>
                  <a:lnTo>
                    <a:pt x="9292423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-12835" b="-1361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292424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 — FEATURE ENGINEERING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95050" y="2913250"/>
          <a:ext cx="16164250" cy="6601738"/>
        </p:xfrm>
        <a:graphic>
          <a:graphicData uri="http://schemas.openxmlformats.org/drawingml/2006/table">
            <a:tbl>
              <a:tblPr/>
              <a:tblGrid>
                <a:gridCol w="3066246"/>
                <a:gridCol w="7102943"/>
                <a:gridCol w="5995060"/>
              </a:tblGrid>
              <a:tr h="8335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 mới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Ý nghĩa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Logic xây dựng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1917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ear, Month, Week, Quarter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 tích theo chiều thời gian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dt.year / dt.month / dt.isocalendar() / dt.quarter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Tí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nh thời vụ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Winter/Spring/Summer/Fall theo tháng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loại hiệu suất cửa hàng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vị avg_sales: High / Medium / 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Sales_MA4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Trung bình động 4 tuần – loại nhiễu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rolling(4).mean() groupby Store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Sales_WoW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Tăng trưởng tuần so tuần trước (%)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pct_change() × 100 groupby Store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ales_Lag1, Lag4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tures cho mô hình 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shift(1), shift(4) groupby Store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*_norm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Chuẩn hoá về [0,1]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Min-Max scaling 4 biến liên tục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9446" y="1899668"/>
            <a:ext cx="6868451" cy="839296"/>
            <a:chOff x="0" y="0"/>
            <a:chExt cx="17750318" cy="2169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50357" cy="2169053"/>
            </a:xfrm>
            <a:custGeom>
              <a:avLst/>
              <a:gdLst/>
              <a:ahLst/>
              <a:cxnLst/>
              <a:rect r="r" b="b" t="t" l="l"/>
              <a:pathLst>
                <a:path h="2169053" w="17750357">
                  <a:moveTo>
                    <a:pt x="0" y="0"/>
                  </a:moveTo>
                  <a:lnTo>
                    <a:pt x="17750357" y="0"/>
                  </a:lnTo>
                  <a:lnTo>
                    <a:pt x="17750357" y="2169053"/>
                  </a:lnTo>
                  <a:lnTo>
                    <a:pt x="0" y="2169053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36626" y="1916004"/>
            <a:ext cx="6049544" cy="822960"/>
            <a:chOff x="0" y="0"/>
            <a:chExt cx="8066058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66058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66058">
                  <a:moveTo>
                    <a:pt x="0" y="0"/>
                  </a:moveTo>
                  <a:lnTo>
                    <a:pt x="8066058" y="0"/>
                  </a:lnTo>
                  <a:lnTo>
                    <a:pt x="806605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-29990" b="-1361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8066058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 — LƯU TRỮ DỮ LIỆU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329969" y="3253314"/>
          <a:ext cx="13628062" cy="5328826"/>
        </p:xfrm>
        <a:graphic>
          <a:graphicData uri="http://schemas.openxmlformats.org/drawingml/2006/table">
            <a:tbl>
              <a:tblPr/>
              <a:tblGrid>
                <a:gridCol w="3756507"/>
                <a:gridCol w="9871555"/>
              </a:tblGrid>
              <a:tr h="7629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Đối tượng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Chi tiết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648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 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t_pipeline.db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6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act_sales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rows × 17 cột – toà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 bộ dữ liệu transformed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44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dim_store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 rows – avg_sales, total_sales, num_weeks, store_tier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9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 queries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stores, Holiday uplift, tháng cao nhất, Store Tier distribution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26363" y="333497"/>
            <a:ext cx="7865580" cy="9679624"/>
          </a:xfrm>
          <a:custGeom>
            <a:avLst/>
            <a:gdLst/>
            <a:ahLst/>
            <a:cxnLst/>
            <a:rect r="r" b="b" t="t" l="l"/>
            <a:pathLst>
              <a:path h="9679624" w="7865580">
                <a:moveTo>
                  <a:pt x="0" y="0"/>
                </a:moveTo>
                <a:lnTo>
                  <a:pt x="7865580" y="0"/>
                </a:lnTo>
                <a:lnTo>
                  <a:pt x="7865580" y="9679624"/>
                </a:lnTo>
                <a:lnTo>
                  <a:pt x="0" y="9679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243" y="1915042"/>
            <a:ext cx="8688757" cy="4573030"/>
          </a:xfrm>
          <a:custGeom>
            <a:avLst/>
            <a:gdLst/>
            <a:ahLst/>
            <a:cxnLst/>
            <a:rect r="r" b="b" t="t" l="l"/>
            <a:pathLst>
              <a:path h="4573030" w="8688757">
                <a:moveTo>
                  <a:pt x="0" y="0"/>
                </a:moveTo>
                <a:lnTo>
                  <a:pt x="8688757" y="0"/>
                </a:lnTo>
                <a:lnTo>
                  <a:pt x="8688757" y="4573030"/>
                </a:lnTo>
                <a:lnTo>
                  <a:pt x="0" y="4573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28923"/>
            <a:chOff x="0" y="0"/>
            <a:chExt cx="24417871" cy="16385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38603"/>
            </a:xfrm>
            <a:custGeom>
              <a:avLst/>
              <a:gdLst/>
              <a:ahLst/>
              <a:cxnLst/>
              <a:rect r="r" b="b" t="t" l="l"/>
              <a:pathLst>
                <a:path h="163860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38603"/>
                  </a:lnTo>
                  <a:lnTo>
                    <a:pt x="0" y="1638603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07095" y="114439"/>
            <a:ext cx="16824960" cy="1216227"/>
            <a:chOff x="0" y="0"/>
            <a:chExt cx="22433280" cy="16216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21636"/>
            </a:xfrm>
            <a:custGeom>
              <a:avLst/>
              <a:gdLst/>
              <a:ahLst/>
              <a:cxnLst/>
              <a:rect r="r" b="b" t="t" l="l"/>
              <a:pathLst>
                <a:path h="16216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21636"/>
                  </a:lnTo>
                  <a:lnTo>
                    <a:pt x="0" y="16216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163" r="0" b="-2259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697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07095" y="8073929"/>
            <a:ext cx="3608028" cy="1798682"/>
            <a:chOff x="0" y="0"/>
            <a:chExt cx="5243412" cy="26139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43450" cy="2613995"/>
            </a:xfrm>
            <a:custGeom>
              <a:avLst/>
              <a:gdLst/>
              <a:ahLst/>
              <a:cxnLst/>
              <a:rect r="r" b="b" t="t" l="l"/>
              <a:pathLst>
                <a:path h="2613995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2613995"/>
                  </a:lnTo>
                  <a:lnTo>
                    <a:pt x="0" y="2613995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59642" y="8202312"/>
            <a:ext cx="3441182" cy="1046931"/>
            <a:chOff x="0" y="0"/>
            <a:chExt cx="5208957" cy="1584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$6.74B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9596" y="8923842"/>
            <a:ext cx="3781304" cy="471407"/>
            <a:chOff x="0" y="0"/>
            <a:chExt cx="5208957" cy="649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8957" cy="649389"/>
            </a:xfrm>
            <a:custGeom>
              <a:avLst/>
              <a:gdLst/>
              <a:ahLst/>
              <a:cxnLst/>
              <a:rect r="r" b="b" t="t" l="l"/>
              <a:pathLst>
                <a:path h="649389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649389"/>
                  </a:lnTo>
                  <a:lnTo>
                    <a:pt x="0" y="64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85" r="1695" b="-1569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208957" cy="69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Tong Doanh Thu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9596" y="9395249"/>
            <a:ext cx="3781304" cy="355439"/>
            <a:chOff x="0" y="0"/>
            <a:chExt cx="5208957" cy="4896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8957" cy="489637"/>
            </a:xfrm>
            <a:custGeom>
              <a:avLst/>
              <a:gdLst/>
              <a:ahLst/>
              <a:cxnLst/>
              <a:rect r="r" b="b" t="t" l="l"/>
              <a:pathLst>
                <a:path h="48963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489637"/>
                  </a:lnTo>
                  <a:lnTo>
                    <a:pt x="0" y="489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24" r="1695" b="-1909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208957" cy="527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2010 – 2012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48523" y="8095722"/>
            <a:ext cx="3564313" cy="1776889"/>
            <a:chOff x="0" y="0"/>
            <a:chExt cx="5243412" cy="26139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3450" cy="2613995"/>
            </a:xfrm>
            <a:custGeom>
              <a:avLst/>
              <a:gdLst/>
              <a:ahLst/>
              <a:cxnLst/>
              <a:rect r="r" b="b" t="t" l="l"/>
              <a:pathLst>
                <a:path h="2613995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2613995"/>
                  </a:lnTo>
                  <a:lnTo>
                    <a:pt x="0" y="2613995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958220" y="8202312"/>
            <a:ext cx="3441182" cy="1046931"/>
            <a:chOff x="0" y="0"/>
            <a:chExt cx="5208957" cy="1584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$1,047K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61025" y="8923842"/>
            <a:ext cx="3781304" cy="471407"/>
            <a:chOff x="0" y="0"/>
            <a:chExt cx="5208957" cy="649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08957" cy="649389"/>
            </a:xfrm>
            <a:custGeom>
              <a:avLst/>
              <a:gdLst/>
              <a:ahLst/>
              <a:cxnLst/>
              <a:rect r="r" b="b" t="t" l="l"/>
              <a:pathLst>
                <a:path h="649389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649389"/>
                  </a:lnTo>
                  <a:lnTo>
                    <a:pt x="0" y="64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85" r="1695" b="-1569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08957" cy="69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TB Tuan / Store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61025" y="9395249"/>
            <a:ext cx="3781304" cy="355439"/>
            <a:chOff x="0" y="0"/>
            <a:chExt cx="5208957" cy="4896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08957" cy="489637"/>
            </a:xfrm>
            <a:custGeom>
              <a:avLst/>
              <a:gdLst/>
              <a:ahLst/>
              <a:cxnLst/>
              <a:rect r="r" b="b" t="t" l="l"/>
              <a:pathLst>
                <a:path h="48963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489637"/>
                  </a:lnTo>
                  <a:lnTo>
                    <a:pt x="0" y="489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24" r="1695" b="-1909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08957" cy="527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week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89952" y="8095722"/>
            <a:ext cx="3564313" cy="1776889"/>
            <a:chOff x="0" y="0"/>
            <a:chExt cx="5243412" cy="26139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43450" cy="2613995"/>
            </a:xfrm>
            <a:custGeom>
              <a:avLst/>
              <a:gdLst/>
              <a:ahLst/>
              <a:cxnLst/>
              <a:rect r="r" b="b" t="t" l="l"/>
              <a:pathLst>
                <a:path h="2613995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2613995"/>
                  </a:lnTo>
                  <a:lnTo>
                    <a:pt x="0" y="2613995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051517" y="8202312"/>
            <a:ext cx="3441182" cy="1046931"/>
            <a:chOff x="0" y="0"/>
            <a:chExt cx="5208957" cy="1584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20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02453" y="8923842"/>
            <a:ext cx="3781304" cy="471407"/>
            <a:chOff x="0" y="0"/>
            <a:chExt cx="5208957" cy="6493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08957" cy="649389"/>
            </a:xfrm>
            <a:custGeom>
              <a:avLst/>
              <a:gdLst/>
              <a:ahLst/>
              <a:cxnLst/>
              <a:rect r="r" b="b" t="t" l="l"/>
              <a:pathLst>
                <a:path h="649389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649389"/>
                  </a:lnTo>
                  <a:lnTo>
                    <a:pt x="0" y="64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85" r="1695" b="-1569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208957" cy="69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Tot Nhat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02453" y="9395249"/>
            <a:ext cx="3781304" cy="355439"/>
            <a:chOff x="0" y="0"/>
            <a:chExt cx="5208957" cy="4896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08957" cy="489637"/>
            </a:xfrm>
            <a:custGeom>
              <a:avLst/>
              <a:gdLst/>
              <a:ahLst/>
              <a:cxnLst/>
              <a:rect r="r" b="b" t="t" l="l"/>
              <a:pathLst>
                <a:path h="48963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489637"/>
                  </a:lnTo>
                  <a:lnTo>
                    <a:pt x="0" y="489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24" r="1695" b="-1909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08957" cy="527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Revenue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131380" y="8095722"/>
            <a:ext cx="3564313" cy="1776889"/>
            <a:chOff x="0" y="0"/>
            <a:chExt cx="5243412" cy="26139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3450" cy="2613995"/>
            </a:xfrm>
            <a:custGeom>
              <a:avLst/>
              <a:gdLst/>
              <a:ahLst/>
              <a:cxnLst/>
              <a:rect r="r" b="b" t="t" l="l"/>
              <a:pathLst>
                <a:path h="2613995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2613995"/>
                  </a:lnTo>
                  <a:lnTo>
                    <a:pt x="0" y="2613995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135290" y="8202312"/>
            <a:ext cx="3641779" cy="1046931"/>
            <a:chOff x="0" y="0"/>
            <a:chExt cx="5208957" cy="14974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08957" cy="1497461"/>
            </a:xfrm>
            <a:custGeom>
              <a:avLst/>
              <a:gdLst/>
              <a:ahLst/>
              <a:cxnLst/>
              <a:rect r="r" b="b" t="t" l="l"/>
              <a:pathLst>
                <a:path h="1497461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497461"/>
                  </a:lnTo>
                  <a:lnTo>
                    <a:pt x="0" y="14974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84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5208957" cy="1602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+7.8%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143881" y="8923842"/>
            <a:ext cx="3781304" cy="471407"/>
            <a:chOff x="0" y="0"/>
            <a:chExt cx="5208957" cy="6493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08957" cy="649389"/>
            </a:xfrm>
            <a:custGeom>
              <a:avLst/>
              <a:gdLst/>
              <a:ahLst/>
              <a:cxnLst/>
              <a:rect r="r" b="b" t="t" l="l"/>
              <a:pathLst>
                <a:path h="649389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649389"/>
                  </a:lnTo>
                  <a:lnTo>
                    <a:pt x="0" y="649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85" r="1695" b="-1569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208957" cy="697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 Uplift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143881" y="9395249"/>
            <a:ext cx="3781304" cy="355439"/>
            <a:chOff x="0" y="0"/>
            <a:chExt cx="5208957" cy="4896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08957" cy="489637"/>
            </a:xfrm>
            <a:custGeom>
              <a:avLst/>
              <a:gdLst/>
              <a:ahLst/>
              <a:cxnLst/>
              <a:rect r="r" b="b" t="t" l="l"/>
              <a:pathLst>
                <a:path h="48963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489637"/>
                  </a:lnTo>
                  <a:lnTo>
                    <a:pt x="0" y="489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624" r="1695" b="-1909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208957" cy="527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Non-Holiday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77090" y="1330666"/>
            <a:ext cx="7574427" cy="587337"/>
            <a:chOff x="0" y="0"/>
            <a:chExt cx="12386344" cy="9604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386383" cy="960501"/>
            </a:xfrm>
            <a:custGeom>
              <a:avLst/>
              <a:gdLst/>
              <a:ahLst/>
              <a:cxnLst/>
              <a:rect r="r" b="b" t="t" l="l"/>
              <a:pathLst>
                <a:path h="960501" w="12386383">
                  <a:moveTo>
                    <a:pt x="407355" y="0"/>
                  </a:moveTo>
                  <a:lnTo>
                    <a:pt x="11979028" y="0"/>
                  </a:lnTo>
                  <a:cubicBezTo>
                    <a:pt x="12087065" y="0"/>
                    <a:pt x="12190678" y="42918"/>
                    <a:pt x="12267071" y="119311"/>
                  </a:cubicBezTo>
                  <a:cubicBezTo>
                    <a:pt x="12343465" y="195705"/>
                    <a:pt x="12386383" y="299318"/>
                    <a:pt x="12386383" y="407355"/>
                  </a:cubicBezTo>
                  <a:lnTo>
                    <a:pt x="12386383" y="553146"/>
                  </a:lnTo>
                  <a:cubicBezTo>
                    <a:pt x="12386383" y="661183"/>
                    <a:pt x="12343465" y="764796"/>
                    <a:pt x="12267071" y="841190"/>
                  </a:cubicBezTo>
                  <a:cubicBezTo>
                    <a:pt x="12190678" y="917583"/>
                    <a:pt x="12087065" y="960501"/>
                    <a:pt x="11979028" y="960501"/>
                  </a:cubicBezTo>
                  <a:lnTo>
                    <a:pt x="407355" y="960501"/>
                  </a:lnTo>
                  <a:cubicBezTo>
                    <a:pt x="299318" y="960501"/>
                    <a:pt x="195705" y="917583"/>
                    <a:pt x="119311" y="841190"/>
                  </a:cubicBezTo>
                  <a:cubicBezTo>
                    <a:pt x="42918" y="764796"/>
                    <a:pt x="0" y="661183"/>
                    <a:pt x="0" y="553146"/>
                  </a:cubicBezTo>
                  <a:lnTo>
                    <a:pt x="0" y="407355"/>
                  </a:lnTo>
                  <a:cubicBezTo>
                    <a:pt x="0" y="299318"/>
                    <a:pt x="42918" y="195705"/>
                    <a:pt x="119311" y="119311"/>
                  </a:cubicBezTo>
                  <a:cubicBezTo>
                    <a:pt x="195705" y="42918"/>
                    <a:pt x="299318" y="0"/>
                    <a:pt x="407355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901611" y="2207976"/>
            <a:ext cx="8763819" cy="5575980"/>
          </a:xfrm>
          <a:custGeom>
            <a:avLst/>
            <a:gdLst/>
            <a:ahLst/>
            <a:cxnLst/>
            <a:rect r="r" b="b" t="t" l="l"/>
            <a:pathLst>
              <a:path h="5575980" w="8763819">
                <a:moveTo>
                  <a:pt x="0" y="0"/>
                </a:moveTo>
                <a:lnTo>
                  <a:pt x="8763819" y="0"/>
                </a:lnTo>
                <a:lnTo>
                  <a:pt x="8763819" y="5575980"/>
                </a:lnTo>
                <a:lnTo>
                  <a:pt x="0" y="5575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790227" y="3961301"/>
            <a:ext cx="8277326" cy="2069330"/>
          </a:xfrm>
          <a:custGeom>
            <a:avLst/>
            <a:gdLst/>
            <a:ahLst/>
            <a:cxnLst/>
            <a:rect r="r" b="b" t="t" l="l"/>
            <a:pathLst>
              <a:path h="2069330" w="8277326">
                <a:moveTo>
                  <a:pt x="0" y="0"/>
                </a:moveTo>
                <a:lnTo>
                  <a:pt x="8277326" y="0"/>
                </a:lnTo>
                <a:lnTo>
                  <a:pt x="8277326" y="2069330"/>
                </a:lnTo>
                <a:lnTo>
                  <a:pt x="0" y="206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9999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984715" y="1308403"/>
            <a:ext cx="659761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KPI Dashboard — Tổng Quan Hiệu Suất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28923"/>
            <a:chOff x="0" y="0"/>
            <a:chExt cx="24417871" cy="16385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38603"/>
            </a:xfrm>
            <a:custGeom>
              <a:avLst/>
              <a:gdLst/>
              <a:ahLst/>
              <a:cxnLst/>
              <a:rect r="r" b="b" t="t" l="l"/>
              <a:pathLst>
                <a:path h="163860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38603"/>
                  </a:lnTo>
                  <a:lnTo>
                    <a:pt x="0" y="1638603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07095" y="114439"/>
            <a:ext cx="16824960" cy="1216227"/>
            <a:chOff x="0" y="0"/>
            <a:chExt cx="22433280" cy="16216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21636"/>
            </a:xfrm>
            <a:custGeom>
              <a:avLst/>
              <a:gdLst/>
              <a:ahLst/>
              <a:cxnLst/>
              <a:rect r="r" b="b" t="t" l="l"/>
              <a:pathLst>
                <a:path h="16216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21636"/>
                  </a:lnTo>
                  <a:lnTo>
                    <a:pt x="0" y="16216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163" r="0" b="-2259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697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KẾT QUẢ PHÂN TÍCH DỮ LIỆU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72544" y="6945026"/>
            <a:ext cx="11160619" cy="3138916"/>
          </a:xfrm>
          <a:custGeom>
            <a:avLst/>
            <a:gdLst/>
            <a:ahLst/>
            <a:cxnLst/>
            <a:rect r="r" b="b" t="t" l="l"/>
            <a:pathLst>
              <a:path h="3138916" w="11160619">
                <a:moveTo>
                  <a:pt x="0" y="0"/>
                </a:moveTo>
                <a:lnTo>
                  <a:pt x="11160619" y="0"/>
                </a:lnTo>
                <a:lnTo>
                  <a:pt x="11160619" y="3138916"/>
                </a:lnTo>
                <a:lnTo>
                  <a:pt x="0" y="3138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4" t="-10328" r="-3425" b="-272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07095" y="1330666"/>
            <a:ext cx="8184631" cy="634653"/>
            <a:chOff x="0" y="0"/>
            <a:chExt cx="12386344" cy="960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86383" cy="960501"/>
            </a:xfrm>
            <a:custGeom>
              <a:avLst/>
              <a:gdLst/>
              <a:ahLst/>
              <a:cxnLst/>
              <a:rect r="r" b="b" t="t" l="l"/>
              <a:pathLst>
                <a:path h="960501" w="12386383">
                  <a:moveTo>
                    <a:pt x="376984" y="0"/>
                  </a:moveTo>
                  <a:lnTo>
                    <a:pt x="12009398" y="0"/>
                  </a:lnTo>
                  <a:cubicBezTo>
                    <a:pt x="12109381" y="0"/>
                    <a:pt x="12205268" y="39718"/>
                    <a:pt x="12275966" y="110416"/>
                  </a:cubicBezTo>
                  <a:cubicBezTo>
                    <a:pt x="12346665" y="181114"/>
                    <a:pt x="12386383" y="277002"/>
                    <a:pt x="12386383" y="376984"/>
                  </a:cubicBezTo>
                  <a:lnTo>
                    <a:pt x="12386383" y="583517"/>
                  </a:lnTo>
                  <a:cubicBezTo>
                    <a:pt x="12386383" y="683499"/>
                    <a:pt x="12346665" y="779386"/>
                    <a:pt x="12275966" y="850085"/>
                  </a:cubicBezTo>
                  <a:cubicBezTo>
                    <a:pt x="12205268" y="920783"/>
                    <a:pt x="12109381" y="960501"/>
                    <a:pt x="12009398" y="960501"/>
                  </a:cubicBezTo>
                  <a:lnTo>
                    <a:pt x="376984" y="960501"/>
                  </a:lnTo>
                  <a:cubicBezTo>
                    <a:pt x="277002" y="960501"/>
                    <a:pt x="181114" y="920783"/>
                    <a:pt x="110416" y="850085"/>
                  </a:cubicBezTo>
                  <a:cubicBezTo>
                    <a:pt x="39718" y="779386"/>
                    <a:pt x="0" y="683499"/>
                    <a:pt x="0" y="583517"/>
                  </a:cubicBezTo>
                  <a:lnTo>
                    <a:pt x="0" y="376984"/>
                  </a:lnTo>
                  <a:cubicBezTo>
                    <a:pt x="0" y="277002"/>
                    <a:pt x="39718" y="181114"/>
                    <a:pt x="110416" y="110416"/>
                  </a:cubicBezTo>
                  <a:cubicBezTo>
                    <a:pt x="181114" y="39718"/>
                    <a:pt x="277002" y="0"/>
                    <a:pt x="376984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07095" y="2285983"/>
            <a:ext cx="8045502" cy="3946562"/>
          </a:xfrm>
          <a:custGeom>
            <a:avLst/>
            <a:gdLst/>
            <a:ahLst/>
            <a:cxnLst/>
            <a:rect r="r" b="b" t="t" l="l"/>
            <a:pathLst>
              <a:path h="3946562" w="8045502">
                <a:moveTo>
                  <a:pt x="0" y="0"/>
                </a:moveTo>
                <a:lnTo>
                  <a:pt x="8045503" y="0"/>
                </a:lnTo>
                <a:lnTo>
                  <a:pt x="8045503" y="3946562"/>
                </a:lnTo>
                <a:lnTo>
                  <a:pt x="0" y="3946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34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6357" y="1889149"/>
            <a:ext cx="8367308" cy="4732027"/>
          </a:xfrm>
          <a:custGeom>
            <a:avLst/>
            <a:gdLst/>
            <a:ahLst/>
            <a:cxnLst/>
            <a:rect r="r" b="b" t="t" l="l"/>
            <a:pathLst>
              <a:path h="4732027" w="8367308">
                <a:moveTo>
                  <a:pt x="0" y="0"/>
                </a:moveTo>
                <a:lnTo>
                  <a:pt x="8367308" y="0"/>
                </a:lnTo>
                <a:lnTo>
                  <a:pt x="8367308" y="4732027"/>
                </a:lnTo>
                <a:lnTo>
                  <a:pt x="0" y="4732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5375" y="1327174"/>
            <a:ext cx="744747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Xu hướng doanh thu theo tuần (2010-2012)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7192" y="315455"/>
            <a:ext cx="7988488" cy="9676907"/>
          </a:xfrm>
          <a:custGeom>
            <a:avLst/>
            <a:gdLst/>
            <a:ahLst/>
            <a:cxnLst/>
            <a:rect r="r" b="b" t="t" l="l"/>
            <a:pathLst>
              <a:path h="9676907" w="7988488">
                <a:moveTo>
                  <a:pt x="0" y="0"/>
                </a:moveTo>
                <a:lnTo>
                  <a:pt x="7988488" y="0"/>
                </a:lnTo>
                <a:lnTo>
                  <a:pt x="7988488" y="9676906"/>
                </a:lnTo>
                <a:lnTo>
                  <a:pt x="0" y="9676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552" y="501243"/>
            <a:ext cx="6868677" cy="9305331"/>
          </a:xfrm>
          <a:custGeom>
            <a:avLst/>
            <a:gdLst/>
            <a:ahLst/>
            <a:cxnLst/>
            <a:rect r="r" b="b" t="t" l="l"/>
            <a:pathLst>
              <a:path h="9305331" w="6868677">
                <a:moveTo>
                  <a:pt x="0" y="0"/>
                </a:moveTo>
                <a:lnTo>
                  <a:pt x="6868678" y="0"/>
                </a:lnTo>
                <a:lnTo>
                  <a:pt x="6868678" y="9305330"/>
                </a:lnTo>
                <a:lnTo>
                  <a:pt x="0" y="9305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5" y="86825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KẾT QUẢ PHÂN TÍCH DỮ LIỆU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1810" y="2950874"/>
            <a:ext cx="11199661" cy="5727540"/>
          </a:xfrm>
          <a:custGeom>
            <a:avLst/>
            <a:gdLst/>
            <a:ahLst/>
            <a:cxnLst/>
            <a:rect r="r" b="b" t="t" l="l"/>
            <a:pathLst>
              <a:path h="5727540" w="11199661">
                <a:moveTo>
                  <a:pt x="0" y="0"/>
                </a:moveTo>
                <a:lnTo>
                  <a:pt x="11199661" y="0"/>
                </a:lnTo>
                <a:lnTo>
                  <a:pt x="11199661" y="5727541"/>
                </a:lnTo>
                <a:lnTo>
                  <a:pt x="0" y="572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0" t="-4680" r="-748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13096" y="2950874"/>
            <a:ext cx="5785060" cy="5308450"/>
          </a:xfrm>
          <a:custGeom>
            <a:avLst/>
            <a:gdLst/>
            <a:ahLst/>
            <a:cxnLst/>
            <a:rect r="r" b="b" t="t" l="l"/>
            <a:pathLst>
              <a:path h="5308450" w="5785060">
                <a:moveTo>
                  <a:pt x="0" y="0"/>
                </a:moveTo>
                <a:lnTo>
                  <a:pt x="5785060" y="0"/>
                </a:lnTo>
                <a:lnTo>
                  <a:pt x="5785060" y="5308451"/>
                </a:lnTo>
                <a:lnTo>
                  <a:pt x="0" y="5308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38772" y="1896575"/>
            <a:ext cx="6205233" cy="693789"/>
            <a:chOff x="0" y="0"/>
            <a:chExt cx="12386344" cy="1384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6383" cy="1384920"/>
            </a:xfrm>
            <a:custGeom>
              <a:avLst/>
              <a:gdLst/>
              <a:ahLst/>
              <a:cxnLst/>
              <a:rect r="r" b="b" t="t" l="l"/>
              <a:pathLst>
                <a:path h="1384920" w="12386383">
                  <a:moveTo>
                    <a:pt x="497238" y="0"/>
                  </a:moveTo>
                  <a:lnTo>
                    <a:pt x="11889145" y="0"/>
                  </a:lnTo>
                  <a:cubicBezTo>
                    <a:pt x="12163761" y="0"/>
                    <a:pt x="12386383" y="222621"/>
                    <a:pt x="12386383" y="497238"/>
                  </a:cubicBezTo>
                  <a:lnTo>
                    <a:pt x="12386383" y="887681"/>
                  </a:lnTo>
                  <a:cubicBezTo>
                    <a:pt x="12386383" y="1162299"/>
                    <a:pt x="12163761" y="1384920"/>
                    <a:pt x="11889145" y="1384920"/>
                  </a:cubicBezTo>
                  <a:lnTo>
                    <a:pt x="497238" y="1384920"/>
                  </a:lnTo>
                  <a:cubicBezTo>
                    <a:pt x="222621" y="1384920"/>
                    <a:pt x="0" y="1162299"/>
                    <a:pt x="0" y="887681"/>
                  </a:cubicBezTo>
                  <a:lnTo>
                    <a:pt x="0" y="497238"/>
                  </a:lnTo>
                  <a:cubicBezTo>
                    <a:pt x="0" y="222621"/>
                    <a:pt x="222621" y="0"/>
                    <a:pt x="49723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985417" y="1905333"/>
            <a:ext cx="411194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Phân tích theo thời vụ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KẾT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2413" y="1845637"/>
            <a:ext cx="6205233" cy="693789"/>
            <a:chOff x="0" y="0"/>
            <a:chExt cx="12386344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6383" cy="1384920"/>
            </a:xfrm>
            <a:custGeom>
              <a:avLst/>
              <a:gdLst/>
              <a:ahLst/>
              <a:cxnLst/>
              <a:rect r="r" b="b" t="t" l="l"/>
              <a:pathLst>
                <a:path h="1384920" w="12386383">
                  <a:moveTo>
                    <a:pt x="497238" y="0"/>
                  </a:moveTo>
                  <a:lnTo>
                    <a:pt x="11889145" y="0"/>
                  </a:lnTo>
                  <a:cubicBezTo>
                    <a:pt x="12163761" y="0"/>
                    <a:pt x="12386383" y="222621"/>
                    <a:pt x="12386383" y="497238"/>
                  </a:cubicBezTo>
                  <a:lnTo>
                    <a:pt x="12386383" y="887681"/>
                  </a:lnTo>
                  <a:cubicBezTo>
                    <a:pt x="12386383" y="1162299"/>
                    <a:pt x="12163761" y="1384920"/>
                    <a:pt x="11889145" y="1384920"/>
                  </a:cubicBezTo>
                  <a:lnTo>
                    <a:pt x="497238" y="1384920"/>
                  </a:lnTo>
                  <a:cubicBezTo>
                    <a:pt x="222621" y="1384920"/>
                    <a:pt x="0" y="1162299"/>
                    <a:pt x="0" y="887681"/>
                  </a:cubicBezTo>
                  <a:lnTo>
                    <a:pt x="0" y="497238"/>
                  </a:lnTo>
                  <a:cubicBezTo>
                    <a:pt x="0" y="222621"/>
                    <a:pt x="222621" y="0"/>
                    <a:pt x="49723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464696" y="2686299"/>
            <a:ext cx="9806120" cy="7090732"/>
          </a:xfrm>
          <a:custGeom>
            <a:avLst/>
            <a:gdLst/>
            <a:ahLst/>
            <a:cxnLst/>
            <a:rect r="r" b="b" t="t" l="l"/>
            <a:pathLst>
              <a:path h="7090732" w="9806120">
                <a:moveTo>
                  <a:pt x="0" y="0"/>
                </a:moveTo>
                <a:lnTo>
                  <a:pt x="9806120" y="0"/>
                </a:lnTo>
                <a:lnTo>
                  <a:pt x="9806120" y="7090732"/>
                </a:lnTo>
                <a:lnTo>
                  <a:pt x="0" y="7090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" t="0" r="-2516" b="-136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53410" y="1854394"/>
            <a:ext cx="30432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Tác động tuần lễ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71417"/>
            <a:chOff x="0" y="0"/>
            <a:chExt cx="24417871" cy="1561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61927"/>
            </a:xfrm>
            <a:custGeom>
              <a:avLst/>
              <a:gdLst/>
              <a:ahLst/>
              <a:cxnLst/>
              <a:rect r="r" b="b" t="t" l="l"/>
              <a:pathLst>
                <a:path h="156192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61927"/>
                  </a:lnTo>
                  <a:lnTo>
                    <a:pt x="0" y="156192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158720"/>
            <a:chOff x="0" y="0"/>
            <a:chExt cx="22433280" cy="154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544960"/>
            </a:xfrm>
            <a:custGeom>
              <a:avLst/>
              <a:gdLst/>
              <a:ahLst/>
              <a:cxnLst/>
              <a:rect r="r" b="b" t="t" l="l"/>
              <a:pathLst>
                <a:path h="154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44960"/>
                  </a:lnTo>
                  <a:lnTo>
                    <a:pt x="0" y="154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42" r="0" b="-242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62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KẾT QUẢ PHÂN TÍCH DỮ LIỆU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0115" y="2290659"/>
            <a:ext cx="16527780" cy="3709923"/>
          </a:xfrm>
          <a:custGeom>
            <a:avLst/>
            <a:gdLst/>
            <a:ahLst/>
            <a:cxnLst/>
            <a:rect r="r" b="b" t="t" l="l"/>
            <a:pathLst>
              <a:path h="3709923" w="16527780">
                <a:moveTo>
                  <a:pt x="0" y="0"/>
                </a:moveTo>
                <a:lnTo>
                  <a:pt x="16527780" y="0"/>
                </a:lnTo>
                <a:lnTo>
                  <a:pt x="16527780" y="3709924"/>
                </a:lnTo>
                <a:lnTo>
                  <a:pt x="0" y="370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9" t="0" r="-350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4684" y="6222216"/>
            <a:ext cx="4857064" cy="3850941"/>
          </a:xfrm>
          <a:custGeom>
            <a:avLst/>
            <a:gdLst/>
            <a:ahLst/>
            <a:cxnLst/>
            <a:rect r="r" b="b" t="t" l="l"/>
            <a:pathLst>
              <a:path h="3850941" w="4857064">
                <a:moveTo>
                  <a:pt x="0" y="0"/>
                </a:moveTo>
                <a:lnTo>
                  <a:pt x="4857064" y="0"/>
                </a:lnTo>
                <a:lnTo>
                  <a:pt x="4857064" y="3850942"/>
                </a:lnTo>
                <a:lnTo>
                  <a:pt x="0" y="385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42" t="0" r="-7397" b="-298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87267" y="6222216"/>
            <a:ext cx="7397494" cy="3824018"/>
          </a:xfrm>
          <a:custGeom>
            <a:avLst/>
            <a:gdLst/>
            <a:ahLst/>
            <a:cxnLst/>
            <a:rect r="r" b="b" t="t" l="l"/>
            <a:pathLst>
              <a:path h="3824018" w="7397494">
                <a:moveTo>
                  <a:pt x="0" y="0"/>
                </a:moveTo>
                <a:lnTo>
                  <a:pt x="7397494" y="0"/>
                </a:lnTo>
                <a:lnTo>
                  <a:pt x="7397494" y="3824018"/>
                </a:lnTo>
                <a:lnTo>
                  <a:pt x="0" y="3824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86" t="-2991" r="-5993" b="-336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74684" y="1338112"/>
            <a:ext cx="5168169" cy="689747"/>
            <a:chOff x="0" y="0"/>
            <a:chExt cx="12386344" cy="16530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6383" cy="1653127"/>
            </a:xfrm>
            <a:custGeom>
              <a:avLst/>
              <a:gdLst/>
              <a:ahLst/>
              <a:cxnLst/>
              <a:rect r="r" b="b" t="t" l="l"/>
              <a:pathLst>
                <a:path h="1653127" w="12386383">
                  <a:moveTo>
                    <a:pt x="597016" y="0"/>
                  </a:moveTo>
                  <a:lnTo>
                    <a:pt x="11789367" y="0"/>
                  </a:lnTo>
                  <a:cubicBezTo>
                    <a:pt x="11947706" y="0"/>
                    <a:pt x="12099558" y="62900"/>
                    <a:pt x="12211521" y="174862"/>
                  </a:cubicBezTo>
                  <a:cubicBezTo>
                    <a:pt x="12323483" y="286824"/>
                    <a:pt x="12386383" y="438677"/>
                    <a:pt x="12386383" y="597016"/>
                  </a:cubicBezTo>
                  <a:lnTo>
                    <a:pt x="12386383" y="1056111"/>
                  </a:lnTo>
                  <a:cubicBezTo>
                    <a:pt x="12386383" y="1214450"/>
                    <a:pt x="12323483" y="1366303"/>
                    <a:pt x="12211521" y="1478265"/>
                  </a:cubicBezTo>
                  <a:cubicBezTo>
                    <a:pt x="12099558" y="1590227"/>
                    <a:pt x="11947706" y="1653127"/>
                    <a:pt x="11789367" y="1653127"/>
                  </a:cubicBezTo>
                  <a:lnTo>
                    <a:pt x="597016" y="1653127"/>
                  </a:lnTo>
                  <a:cubicBezTo>
                    <a:pt x="438677" y="1653127"/>
                    <a:pt x="286824" y="1590227"/>
                    <a:pt x="174862" y="1478265"/>
                  </a:cubicBezTo>
                  <a:cubicBezTo>
                    <a:pt x="62900" y="1366303"/>
                    <a:pt x="0" y="1214450"/>
                    <a:pt x="0" y="1056111"/>
                  </a:cubicBezTo>
                  <a:lnTo>
                    <a:pt x="0" y="597016"/>
                  </a:lnTo>
                  <a:cubicBezTo>
                    <a:pt x="0" y="438677"/>
                    <a:pt x="62900" y="286824"/>
                    <a:pt x="174862" y="174862"/>
                  </a:cubicBezTo>
                  <a:cubicBezTo>
                    <a:pt x="286824" y="62900"/>
                    <a:pt x="438677" y="0"/>
                    <a:pt x="597016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254292" y="1340086"/>
            <a:ext cx="400895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Hiệu suất 45 cửa hàng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648780"/>
            <a:ext cx="9749012" cy="693789"/>
            <a:chOff x="0" y="0"/>
            <a:chExt cx="1946012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60166" cy="1384920"/>
            </a:xfrm>
            <a:custGeom>
              <a:avLst/>
              <a:gdLst/>
              <a:ahLst/>
              <a:cxnLst/>
              <a:rect r="r" b="b" t="t" l="l"/>
              <a:pathLst>
                <a:path h="1384920" w="19460166">
                  <a:moveTo>
                    <a:pt x="316491" y="0"/>
                  </a:moveTo>
                  <a:lnTo>
                    <a:pt x="19143675" y="0"/>
                  </a:lnTo>
                  <a:cubicBezTo>
                    <a:pt x="19227612" y="0"/>
                    <a:pt x="19308114" y="33345"/>
                    <a:pt x="19367467" y="92698"/>
                  </a:cubicBezTo>
                  <a:cubicBezTo>
                    <a:pt x="19426822" y="152052"/>
                    <a:pt x="19460166" y="232553"/>
                    <a:pt x="19460166" y="316491"/>
                  </a:cubicBezTo>
                  <a:lnTo>
                    <a:pt x="19460166" y="1068428"/>
                  </a:lnTo>
                  <a:cubicBezTo>
                    <a:pt x="19460166" y="1152367"/>
                    <a:pt x="19426822" y="1232868"/>
                    <a:pt x="19367467" y="1292221"/>
                  </a:cubicBezTo>
                  <a:cubicBezTo>
                    <a:pt x="19308114" y="1351575"/>
                    <a:pt x="19227612" y="1384920"/>
                    <a:pt x="19143675" y="1384920"/>
                  </a:cubicBezTo>
                  <a:lnTo>
                    <a:pt x="316491" y="1384920"/>
                  </a:lnTo>
                  <a:cubicBezTo>
                    <a:pt x="141698" y="1384920"/>
                    <a:pt x="0" y="1243222"/>
                    <a:pt x="0" y="1068428"/>
                  </a:cubicBezTo>
                  <a:lnTo>
                    <a:pt x="0" y="316491"/>
                  </a:lnTo>
                  <a:cubicBezTo>
                    <a:pt x="0" y="232553"/>
                    <a:pt x="33345" y="152052"/>
                    <a:pt x="92698" y="92698"/>
                  </a:cubicBezTo>
                  <a:cubicBezTo>
                    <a:pt x="152052" y="33345"/>
                    <a:pt x="232553" y="0"/>
                    <a:pt x="316491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02070" y="2267137"/>
            <a:ext cx="11276719" cy="8364051"/>
          </a:xfrm>
          <a:custGeom>
            <a:avLst/>
            <a:gdLst/>
            <a:ahLst/>
            <a:cxnLst/>
            <a:rect r="r" b="b" t="t" l="l"/>
            <a:pathLst>
              <a:path h="8364051" w="11276719">
                <a:moveTo>
                  <a:pt x="0" y="0"/>
                </a:moveTo>
                <a:lnTo>
                  <a:pt x="11276719" y="0"/>
                </a:lnTo>
                <a:lnTo>
                  <a:pt x="11276719" y="8364052"/>
                </a:lnTo>
                <a:lnTo>
                  <a:pt x="0" y="8364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4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1657537"/>
            <a:ext cx="102235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 Trận Tương Quan — Biến Kinh Tế &amp; Doanh Thu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00696"/>
            <a:ext cx="9749012" cy="693789"/>
            <a:chOff x="0" y="0"/>
            <a:chExt cx="1946012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60166" cy="1384920"/>
            </a:xfrm>
            <a:custGeom>
              <a:avLst/>
              <a:gdLst/>
              <a:ahLst/>
              <a:cxnLst/>
              <a:rect r="r" b="b" t="t" l="l"/>
              <a:pathLst>
                <a:path h="1384920" w="19460166">
                  <a:moveTo>
                    <a:pt x="316491" y="0"/>
                  </a:moveTo>
                  <a:lnTo>
                    <a:pt x="19143675" y="0"/>
                  </a:lnTo>
                  <a:cubicBezTo>
                    <a:pt x="19227612" y="0"/>
                    <a:pt x="19308114" y="33345"/>
                    <a:pt x="19367467" y="92698"/>
                  </a:cubicBezTo>
                  <a:cubicBezTo>
                    <a:pt x="19426822" y="152052"/>
                    <a:pt x="19460166" y="232553"/>
                    <a:pt x="19460166" y="316491"/>
                  </a:cubicBezTo>
                  <a:lnTo>
                    <a:pt x="19460166" y="1068428"/>
                  </a:lnTo>
                  <a:cubicBezTo>
                    <a:pt x="19460166" y="1152367"/>
                    <a:pt x="19426822" y="1232868"/>
                    <a:pt x="19367467" y="1292221"/>
                  </a:cubicBezTo>
                  <a:cubicBezTo>
                    <a:pt x="19308114" y="1351575"/>
                    <a:pt x="19227612" y="1384920"/>
                    <a:pt x="19143675" y="1384920"/>
                  </a:cubicBezTo>
                  <a:lnTo>
                    <a:pt x="316491" y="1384920"/>
                  </a:lnTo>
                  <a:cubicBezTo>
                    <a:pt x="141698" y="1384920"/>
                    <a:pt x="0" y="1243222"/>
                    <a:pt x="0" y="1068428"/>
                  </a:cubicBezTo>
                  <a:lnTo>
                    <a:pt x="0" y="316491"/>
                  </a:lnTo>
                  <a:cubicBezTo>
                    <a:pt x="0" y="232553"/>
                    <a:pt x="33345" y="152052"/>
                    <a:pt x="92698" y="92698"/>
                  </a:cubicBezTo>
                  <a:cubicBezTo>
                    <a:pt x="152052" y="33345"/>
                    <a:pt x="232553" y="0"/>
                    <a:pt x="316491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03725" y="3380770"/>
            <a:ext cx="9004641" cy="4987458"/>
          </a:xfrm>
          <a:custGeom>
            <a:avLst/>
            <a:gdLst/>
            <a:ahLst/>
            <a:cxnLst/>
            <a:rect r="r" b="b" t="t" l="l"/>
            <a:pathLst>
              <a:path h="4987458" w="9004641">
                <a:moveTo>
                  <a:pt x="0" y="0"/>
                </a:moveTo>
                <a:lnTo>
                  <a:pt x="9004641" y="0"/>
                </a:lnTo>
                <a:lnTo>
                  <a:pt x="9004641" y="4987458"/>
                </a:lnTo>
                <a:lnTo>
                  <a:pt x="0" y="498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64" t="-4404" r="0" b="-269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08366" y="3310875"/>
            <a:ext cx="8823657" cy="5127248"/>
          </a:xfrm>
          <a:custGeom>
            <a:avLst/>
            <a:gdLst/>
            <a:ahLst/>
            <a:cxnLst/>
            <a:rect r="r" b="b" t="t" l="l"/>
            <a:pathLst>
              <a:path h="5127248" w="8823657">
                <a:moveTo>
                  <a:pt x="0" y="0"/>
                </a:moveTo>
                <a:lnTo>
                  <a:pt x="8823658" y="0"/>
                </a:lnTo>
                <a:lnTo>
                  <a:pt x="8823658" y="5127248"/>
                </a:lnTo>
                <a:lnTo>
                  <a:pt x="0" y="512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71" r="-762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1520" y="2009453"/>
            <a:ext cx="102235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Tăng Trưởng Doanh Thu Theo Năm (YoY Analysis)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505" y="1028700"/>
            <a:ext cx="17040930" cy="2108815"/>
          </a:xfrm>
          <a:custGeom>
            <a:avLst/>
            <a:gdLst/>
            <a:ahLst/>
            <a:cxnLst/>
            <a:rect r="r" b="b" t="t" l="l"/>
            <a:pathLst>
              <a:path h="2108815" w="17040930">
                <a:moveTo>
                  <a:pt x="0" y="0"/>
                </a:moveTo>
                <a:lnTo>
                  <a:pt x="17040930" y="0"/>
                </a:lnTo>
                <a:lnTo>
                  <a:pt x="17040930" y="2108815"/>
                </a:lnTo>
                <a:lnTo>
                  <a:pt x="0" y="210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505" y="3606516"/>
            <a:ext cx="17040930" cy="1917105"/>
          </a:xfrm>
          <a:custGeom>
            <a:avLst/>
            <a:gdLst/>
            <a:ahLst/>
            <a:cxnLst/>
            <a:rect r="r" b="b" t="t" l="l"/>
            <a:pathLst>
              <a:path h="1917105" w="17040930">
                <a:moveTo>
                  <a:pt x="0" y="0"/>
                </a:moveTo>
                <a:lnTo>
                  <a:pt x="17040930" y="0"/>
                </a:lnTo>
                <a:lnTo>
                  <a:pt x="17040930" y="1917104"/>
                </a:lnTo>
                <a:lnTo>
                  <a:pt x="0" y="1917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505" y="5990345"/>
            <a:ext cx="16801735" cy="3045314"/>
          </a:xfrm>
          <a:custGeom>
            <a:avLst/>
            <a:gdLst/>
            <a:ahLst/>
            <a:cxnLst/>
            <a:rect r="r" b="b" t="t" l="l"/>
            <a:pathLst>
              <a:path h="3045314" w="16801735">
                <a:moveTo>
                  <a:pt x="0" y="0"/>
                </a:moveTo>
                <a:lnTo>
                  <a:pt x="16801735" y="0"/>
                </a:lnTo>
                <a:lnTo>
                  <a:pt x="16801735" y="3045315"/>
                </a:lnTo>
                <a:lnTo>
                  <a:pt x="0" y="304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31621" y="1902133"/>
            <a:ext cx="4401181" cy="148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b="true" sz="859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R2 = 0.94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1041397"/>
            <a:chOff x="0" y="0"/>
            <a:chExt cx="24417871" cy="1388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910" cy="1388567"/>
            </a:xfrm>
            <a:custGeom>
              <a:avLst/>
              <a:gdLst/>
              <a:ahLst/>
              <a:cxnLst/>
              <a:rect r="r" b="b" t="t" l="l"/>
              <a:pathLst>
                <a:path h="138856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388567"/>
                  </a:lnTo>
                  <a:lnTo>
                    <a:pt x="0" y="138856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-3232"/>
            <a:ext cx="16824960" cy="1022460"/>
            <a:chOff x="0" y="0"/>
            <a:chExt cx="22433280" cy="1363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63280"/>
            </a:xfrm>
            <a:custGeom>
              <a:avLst/>
              <a:gdLst/>
              <a:ahLst/>
              <a:cxnLst/>
              <a:rect r="r" b="b" t="t" l="l"/>
              <a:pathLst>
                <a:path h="1363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63280"/>
                  </a:lnTo>
                  <a:lnTo>
                    <a:pt x="0" y="1363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3560" r="0" b="-2877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433280" cy="1439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 MÔ HÌNH ML DỰ BÁO DOANH THU 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 MÔ HÌNH ML DỰ BÁO DOANH THU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00696"/>
            <a:ext cx="7014868" cy="693789"/>
            <a:chOff x="0" y="0"/>
            <a:chExt cx="1400246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02505" cy="1384920"/>
            </a:xfrm>
            <a:custGeom>
              <a:avLst/>
              <a:gdLst/>
              <a:ahLst/>
              <a:cxnLst/>
              <a:rect r="r" b="b" t="t" l="l"/>
              <a:pathLst>
                <a:path h="1384920" w="14002505">
                  <a:moveTo>
                    <a:pt x="439848" y="0"/>
                  </a:moveTo>
                  <a:lnTo>
                    <a:pt x="13562656" y="0"/>
                  </a:lnTo>
                  <a:cubicBezTo>
                    <a:pt x="13805577" y="0"/>
                    <a:pt x="14002505" y="196927"/>
                    <a:pt x="14002505" y="439848"/>
                  </a:cubicBezTo>
                  <a:lnTo>
                    <a:pt x="14002505" y="945071"/>
                  </a:lnTo>
                  <a:cubicBezTo>
                    <a:pt x="14002505" y="1061726"/>
                    <a:pt x="13956164" y="1173603"/>
                    <a:pt x="13873677" y="1256091"/>
                  </a:cubicBezTo>
                  <a:cubicBezTo>
                    <a:pt x="13791189" y="1338579"/>
                    <a:pt x="13679312" y="1384920"/>
                    <a:pt x="13562656" y="1384920"/>
                  </a:cubicBezTo>
                  <a:lnTo>
                    <a:pt x="439848" y="1384920"/>
                  </a:lnTo>
                  <a:cubicBezTo>
                    <a:pt x="196927" y="1384920"/>
                    <a:pt x="0" y="1187993"/>
                    <a:pt x="0" y="945071"/>
                  </a:cubicBezTo>
                  <a:lnTo>
                    <a:pt x="0" y="439848"/>
                  </a:lnTo>
                  <a:cubicBezTo>
                    <a:pt x="0" y="196927"/>
                    <a:pt x="196927" y="0"/>
                    <a:pt x="43984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1560" y="3731176"/>
            <a:ext cx="17704881" cy="4555101"/>
          </a:xfrm>
          <a:custGeom>
            <a:avLst/>
            <a:gdLst/>
            <a:ahLst/>
            <a:cxnLst/>
            <a:rect r="r" b="b" t="t" l="l"/>
            <a:pathLst>
              <a:path h="4555101" w="17704881">
                <a:moveTo>
                  <a:pt x="0" y="0"/>
                </a:moveTo>
                <a:lnTo>
                  <a:pt x="17704880" y="0"/>
                </a:lnTo>
                <a:lnTo>
                  <a:pt x="17704880" y="4555101"/>
                </a:lnTo>
                <a:lnTo>
                  <a:pt x="0" y="4555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6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9383" y="2009453"/>
            <a:ext cx="714418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 Sánh Hiệu Suất 3 Mô Hình ML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1207" y="217989"/>
            <a:ext cx="8522793" cy="9851021"/>
          </a:xfrm>
          <a:custGeom>
            <a:avLst/>
            <a:gdLst/>
            <a:ahLst/>
            <a:cxnLst/>
            <a:rect r="r" b="b" t="t" l="l"/>
            <a:pathLst>
              <a:path h="9851021" w="8522793">
                <a:moveTo>
                  <a:pt x="0" y="0"/>
                </a:moveTo>
                <a:lnTo>
                  <a:pt x="8522793" y="0"/>
                </a:lnTo>
                <a:lnTo>
                  <a:pt x="8522793" y="9851022"/>
                </a:lnTo>
                <a:lnTo>
                  <a:pt x="0" y="9851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656824"/>
            <a:ext cx="8459896" cy="5601476"/>
          </a:xfrm>
          <a:custGeom>
            <a:avLst/>
            <a:gdLst/>
            <a:ahLst/>
            <a:cxnLst/>
            <a:rect r="r" b="b" t="t" l="l"/>
            <a:pathLst>
              <a:path h="5601476" w="8459896">
                <a:moveTo>
                  <a:pt x="0" y="0"/>
                </a:moveTo>
                <a:lnTo>
                  <a:pt x="8459896" y="0"/>
                </a:lnTo>
                <a:lnTo>
                  <a:pt x="8459896" y="5601476"/>
                </a:lnTo>
                <a:lnTo>
                  <a:pt x="0" y="5601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2"/>
            <a:ext cx="18313403" cy="1165817"/>
            <a:chOff x="0" y="0"/>
            <a:chExt cx="24417871" cy="1554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54461"/>
            </a:xfrm>
            <a:custGeom>
              <a:avLst/>
              <a:gdLst/>
              <a:ahLst/>
              <a:cxnLst/>
              <a:rect r="r" b="b" t="t" l="l"/>
              <a:pathLst>
                <a:path h="155446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54461"/>
                  </a:lnTo>
                  <a:lnTo>
                    <a:pt x="0" y="155446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72797"/>
            <a:chOff x="0" y="0"/>
            <a:chExt cx="22433280" cy="1697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97063"/>
            </a:xfrm>
            <a:custGeom>
              <a:avLst/>
              <a:gdLst/>
              <a:ahLst/>
              <a:cxnLst/>
              <a:rect r="r" b="b" t="t" l="l"/>
              <a:pathLst>
                <a:path h="169706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97063"/>
                  </a:lnTo>
                  <a:lnTo>
                    <a:pt x="0" y="1697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89" r="0" b="-2114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73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 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&amp; FILE OUTPUT</a:t>
              </a: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731520" y="1354791"/>
          <a:ext cx="16230600" cy="6546342"/>
        </p:xfrm>
        <a:graphic>
          <a:graphicData uri="http://schemas.openxmlformats.org/presentationml/2006/ole">
            <p:oleObj imgW="19469100" imgH="9791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2"/>
            <a:ext cx="18313403" cy="1165817"/>
            <a:chOff x="0" y="0"/>
            <a:chExt cx="24417871" cy="1554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54461"/>
            </a:xfrm>
            <a:custGeom>
              <a:avLst/>
              <a:gdLst/>
              <a:ahLst/>
              <a:cxnLst/>
              <a:rect r="r" b="b" t="t" l="l"/>
              <a:pathLst>
                <a:path h="155446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54461"/>
                  </a:lnTo>
                  <a:lnTo>
                    <a:pt x="0" y="155446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72797"/>
            <a:chOff x="0" y="0"/>
            <a:chExt cx="22433280" cy="1697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97063"/>
            </a:xfrm>
            <a:custGeom>
              <a:avLst/>
              <a:gdLst/>
              <a:ahLst/>
              <a:cxnLst/>
              <a:rect r="r" b="b" t="t" l="l"/>
              <a:pathLst>
                <a:path h="169706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97063"/>
                  </a:lnTo>
                  <a:lnTo>
                    <a:pt x="0" y="1697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89" r="0" b="-2114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73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 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&amp; FILE OUTPUT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426464"/>
            <a:ext cx="8216897" cy="744217"/>
            <a:chOff x="0" y="0"/>
            <a:chExt cx="10955862" cy="99228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955862" cy="960463"/>
              <a:chOff x="0" y="0"/>
              <a:chExt cx="10955862" cy="96046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955900" cy="960501"/>
              </a:xfrm>
              <a:custGeom>
                <a:avLst/>
                <a:gdLst/>
                <a:ahLst/>
                <a:cxnLst/>
                <a:rect r="r" b="b" t="t" l="l"/>
                <a:pathLst>
                  <a:path h="960501" w="10955900">
                    <a:moveTo>
                      <a:pt x="0" y="0"/>
                    </a:moveTo>
                    <a:lnTo>
                      <a:pt x="10955900" y="0"/>
                    </a:lnTo>
                    <a:lnTo>
                      <a:pt x="10955900" y="960501"/>
                    </a:lnTo>
                    <a:lnTo>
                      <a:pt x="0" y="960501"/>
                    </a:lnTo>
                    <a:close/>
                  </a:path>
                </a:pathLst>
              </a:custGeom>
              <a:solidFill>
                <a:srgbClr val="2E86AB"/>
              </a:solidFill>
              <a:ln w="25400" cap="sq">
                <a:solidFill>
                  <a:srgbClr val="2E86AB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6354" y="65697"/>
              <a:ext cx="10888438" cy="926592"/>
              <a:chOff x="0" y="0"/>
              <a:chExt cx="10888438" cy="92659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88438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10888438">
                    <a:moveTo>
                      <a:pt x="0" y="0"/>
                    </a:moveTo>
                    <a:lnTo>
                      <a:pt x="10888438" y="0"/>
                    </a:lnTo>
                    <a:lnTo>
                      <a:pt x="10888438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743" r="-774" b="-180743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0888438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📁  Code &amp; Dữ Liệu</a:t>
                </a:r>
              </a:p>
            </p:txBody>
          </p:sp>
        </p:grp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48640" y="2157984"/>
          <a:ext cx="8204200" cy="2944812"/>
        </p:xfrm>
        <a:graphic>
          <a:graphicData uri="http://schemas.openxmlformats.org/drawingml/2006/table">
            <a:tbl>
              <a:tblPr/>
              <a:tblGrid>
                <a:gridCol w="3637948"/>
                <a:gridCol w="3276662"/>
                <a:gridCol w="1289590"/>
              </a:tblGrid>
              <a:tr h="6856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Mô tả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Định dạng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walmart_pipeline_final.ipynb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Toàn bộ code Phase 1–7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Jupyter Notebook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walmart_cleaned_full.csv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đã transform, 17 cột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walmart_pipeline.db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fact_sales (6,435) + dim_store (45)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SQLite 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9291895" y="1413767"/>
            <a:ext cx="8662988" cy="720347"/>
            <a:chOff x="0" y="0"/>
            <a:chExt cx="11550651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506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550689">
                  <a:moveTo>
                    <a:pt x="0" y="0"/>
                  </a:moveTo>
                  <a:lnTo>
                    <a:pt x="11550689" y="0"/>
                  </a:lnTo>
                  <a:lnTo>
                    <a:pt x="115506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05301" y="1426464"/>
            <a:ext cx="8427316" cy="694944"/>
            <a:chOff x="0" y="0"/>
            <a:chExt cx="11236421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364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36420">
                  <a:moveTo>
                    <a:pt x="0" y="0"/>
                  </a:moveTo>
                  <a:lnTo>
                    <a:pt x="11236420" y="0"/>
                  </a:lnTo>
                  <a:lnTo>
                    <a:pt x="112364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2346" b="-1807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236421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Biểu Đồ &amp; Hình Ảnh (PNG)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291895" y="2121408"/>
          <a:ext cx="8662988" cy="7890404"/>
        </p:xfrm>
        <a:graphic>
          <a:graphicData uri="http://schemas.openxmlformats.org/drawingml/2006/table">
            <a:tbl>
              <a:tblPr/>
              <a:tblGrid>
                <a:gridCol w="4044499"/>
                <a:gridCol w="4618489"/>
              </a:tblGrid>
              <a:tr h="6349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Mô tả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kpi_dashboard.png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KPI cards tổng quan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trend_weekly.png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Xu hướng doanh thu theo tuần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seasonality.png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tích thời vụ tháng &amp; mùa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holiday_impact.png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Holiday vs Non-Holiday (violin+bar+boxplot)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store_performance.png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10 stores + Tier + Scatter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correlation.png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 trận tương quan + bar chart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yearly_growth.png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Tăng trưởng YoY dual-axis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store_trend_compare.png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 sánh Store 20 vs 33 vs avg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outliers_boxplot.png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Boxplot outliers 5 cột số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model_comparison.png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 sánh MAE/RMSE/R² 3 mô hình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model_analysis.png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Actual vs Predicted + Feature Importance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535943" y="5517872"/>
            <a:ext cx="8229594" cy="4493940"/>
            <a:chOff x="0" y="0"/>
            <a:chExt cx="11517614" cy="6289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17652" cy="6289469"/>
            </a:xfrm>
            <a:custGeom>
              <a:avLst/>
              <a:gdLst/>
              <a:ahLst/>
              <a:cxnLst/>
              <a:rect r="r" b="b" t="t" l="l"/>
              <a:pathLst>
                <a:path h="6289469" w="11517652">
                  <a:moveTo>
                    <a:pt x="0" y="0"/>
                  </a:moveTo>
                  <a:lnTo>
                    <a:pt x="11517652" y="0"/>
                  </a:lnTo>
                  <a:lnTo>
                    <a:pt x="11517652" y="6289469"/>
                  </a:lnTo>
                  <a:lnTo>
                    <a:pt x="0" y="628946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1098" y="5650656"/>
            <a:ext cx="6358118" cy="605275"/>
            <a:chOff x="0" y="0"/>
            <a:chExt cx="8477491" cy="8070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77491" cy="807033"/>
            </a:xfrm>
            <a:custGeom>
              <a:avLst/>
              <a:gdLst/>
              <a:ahLst/>
              <a:cxnLst/>
              <a:rect r="r" b="b" t="t" l="l"/>
              <a:pathLst>
                <a:path h="807033" w="8477491">
                  <a:moveTo>
                    <a:pt x="0" y="0"/>
                  </a:moveTo>
                  <a:lnTo>
                    <a:pt x="8477491" y="0"/>
                  </a:lnTo>
                  <a:lnTo>
                    <a:pt x="8477491" y="807033"/>
                  </a:lnTo>
                  <a:lnTo>
                    <a:pt x="0" y="807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390" r="-20805" b="-2001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477491" cy="845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kết Output: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0588" y="6330392"/>
            <a:ext cx="702255" cy="715764"/>
            <a:chOff x="0" y="0"/>
            <a:chExt cx="936340" cy="9543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01098" y="6342398"/>
            <a:ext cx="681227" cy="691742"/>
            <a:chOff x="0" y="0"/>
            <a:chExt cx="908303" cy="9223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33708" y="6342398"/>
            <a:ext cx="5449815" cy="691742"/>
            <a:chOff x="0" y="0"/>
            <a:chExt cx="7266420" cy="9223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Jupyter Notebook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0588" y="7229657"/>
            <a:ext cx="702255" cy="715764"/>
            <a:chOff x="0" y="0"/>
            <a:chExt cx="936340" cy="9543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01098" y="7241663"/>
            <a:ext cx="681227" cy="691742"/>
            <a:chOff x="0" y="0"/>
            <a:chExt cx="908303" cy="9223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3708" y="7241663"/>
            <a:ext cx="5449815" cy="691742"/>
            <a:chOff x="0" y="0"/>
            <a:chExt cx="7266420" cy="9223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(17 cột)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0588" y="8128922"/>
            <a:ext cx="702255" cy="715764"/>
            <a:chOff x="0" y="0"/>
            <a:chExt cx="936340" cy="9543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01098" y="8140928"/>
            <a:ext cx="681227" cy="691742"/>
            <a:chOff x="0" y="0"/>
            <a:chExt cx="908303" cy="9223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33708" y="8140928"/>
            <a:ext cx="5449815" cy="691742"/>
            <a:chOff x="0" y="0"/>
            <a:chExt cx="7266420" cy="9223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DB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90588" y="9028187"/>
            <a:ext cx="702255" cy="715764"/>
            <a:chOff x="0" y="0"/>
            <a:chExt cx="936340" cy="954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01098" y="9040194"/>
            <a:ext cx="681227" cy="691742"/>
            <a:chOff x="0" y="0"/>
            <a:chExt cx="908303" cy="9223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33708" y="9040194"/>
            <a:ext cx="5449815" cy="691742"/>
            <a:chOff x="0" y="0"/>
            <a:chExt cx="7266420" cy="9223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Biểu đồ PNG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45489"/>
            <a:chOff x="0" y="0"/>
            <a:chExt cx="24417871" cy="1660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60690"/>
            </a:xfrm>
            <a:custGeom>
              <a:avLst/>
              <a:gdLst/>
              <a:ahLst/>
              <a:cxnLst/>
              <a:rect r="r" b="b" t="t" l="l"/>
              <a:pathLst>
                <a:path h="1660690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60690"/>
                  </a:lnTo>
                  <a:lnTo>
                    <a:pt x="0" y="1660690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32792"/>
            <a:chOff x="0" y="0"/>
            <a:chExt cx="22433280" cy="1643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43723"/>
            </a:xfrm>
            <a:custGeom>
              <a:avLst/>
              <a:gdLst/>
              <a:ahLst/>
              <a:cxnLst/>
              <a:rect r="r" b="b" t="t" l="l"/>
              <a:pathLst>
                <a:path h="164372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43723"/>
                  </a:lnTo>
                  <a:lnTo>
                    <a:pt x="0" y="1643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99" r="0" b="-2215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19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VI.CÔNG CỤ VÀ KHÓ KHĂN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314707"/>
            <a:ext cx="8072123" cy="720347"/>
            <a:chOff x="0" y="0"/>
            <a:chExt cx="10762831" cy="960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960501"/>
            </a:xfrm>
            <a:custGeom>
              <a:avLst/>
              <a:gdLst/>
              <a:ahLst/>
              <a:cxnLst/>
              <a:rect r="r" b="b" t="t" l="l"/>
              <a:pathLst>
                <a:path h="96050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327404"/>
            <a:ext cx="8046720" cy="694944"/>
            <a:chOff x="0" y="0"/>
            <a:chExt cx="1072896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  6.1. Công Cụ &amp; Môi Trường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2058924"/>
          <a:ext cx="8026400" cy="5492750"/>
        </p:xfrm>
        <a:graphic>
          <a:graphicData uri="http://schemas.openxmlformats.org/drawingml/2006/table">
            <a:tbl>
              <a:tblPr/>
              <a:tblGrid>
                <a:gridCol w="3288105"/>
                <a:gridCol w="4738295"/>
              </a:tblGrid>
              <a:tr h="6865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Công cụ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Mục đích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 3.10+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Ngôn ngữ lập trình chính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 Colab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Môi trường chạy notebook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Pandas / NumPy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Xử lý DataFrame, tính toán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Matplotlib / Seaborn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Trực quan hoá dữ liệu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SQLite3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Lưu trữ và truy vấn dữ liệu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Scikit-learn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Xây dựng và đánh giá mô hình 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Sửa code, tối ưu hoá bài làm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617218" y="7662672"/>
            <a:ext cx="3774443" cy="720347"/>
            <a:chOff x="0" y="0"/>
            <a:chExt cx="5032591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29915" y="7675369"/>
            <a:ext cx="3749040" cy="682628"/>
            <a:chOff x="0" y="0"/>
            <a:chExt cx="4998720" cy="9101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98720" cy="910171"/>
            </a:xfrm>
            <a:custGeom>
              <a:avLst/>
              <a:gdLst/>
              <a:ahLst/>
              <a:cxnLst/>
              <a:rect r="r" b="b" t="t" l="l"/>
              <a:pathLst>
                <a:path h="910171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10171"/>
                  </a:lnTo>
                  <a:lnTo>
                    <a:pt x="0" y="9101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11" r="0" b="-579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98720" cy="948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🐍 Python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32018" y="7662672"/>
            <a:ext cx="3774443" cy="720347"/>
            <a:chOff x="0" y="0"/>
            <a:chExt cx="5032591" cy="9604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744715" y="7675369"/>
            <a:ext cx="3749040" cy="694944"/>
            <a:chOff x="0" y="0"/>
            <a:chExt cx="499872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📓 Colab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7218" y="8577072"/>
            <a:ext cx="3774443" cy="720347"/>
            <a:chOff x="0" y="0"/>
            <a:chExt cx="5032591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9915" y="8589769"/>
            <a:ext cx="3749040" cy="694944"/>
            <a:chOff x="0" y="0"/>
            <a:chExt cx="499872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🐼 Pandas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32018" y="8577072"/>
            <a:ext cx="3774443" cy="720347"/>
            <a:chOff x="0" y="0"/>
            <a:chExt cx="5032591" cy="960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744715" y="8589769"/>
            <a:ext cx="3749040" cy="694944"/>
            <a:chOff x="0" y="0"/>
            <a:chExt cx="499872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Seaborn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7218" y="9491472"/>
            <a:ext cx="3774443" cy="720347"/>
            <a:chOff x="0" y="0"/>
            <a:chExt cx="5032591" cy="960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29915" y="9504169"/>
            <a:ext cx="3749040" cy="694944"/>
            <a:chOff x="0" y="0"/>
            <a:chExt cx="499872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 SQLite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32018" y="9491472"/>
            <a:ext cx="3774443" cy="720347"/>
            <a:chOff x="0" y="0"/>
            <a:chExt cx="503259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744715" y="9504169"/>
            <a:ext cx="3749040" cy="694944"/>
            <a:chOff x="0" y="0"/>
            <a:chExt cx="499872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Sklearn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4183" y="1413767"/>
            <a:ext cx="8437883" cy="720347"/>
            <a:chOff x="0" y="0"/>
            <a:chExt cx="11250511" cy="9604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26880" y="1426464"/>
            <a:ext cx="8412480" cy="694944"/>
            <a:chOff x="0" y="0"/>
            <a:chExt cx="1121664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12166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6.2. Khó Khăn &amp; Giải Pháp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14183" y="2145287"/>
            <a:ext cx="8437883" cy="1525019"/>
            <a:chOff x="0" y="0"/>
            <a:chExt cx="11250511" cy="20333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314183" y="2145287"/>
            <a:ext cx="720347" cy="1525019"/>
            <a:chOff x="0" y="0"/>
            <a:chExt cx="960463" cy="20333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326880" y="2157984"/>
            <a:ext cx="694944" cy="1499616"/>
            <a:chOff x="0" y="0"/>
            <a:chExt cx="926592" cy="19994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149840" y="2194560"/>
            <a:ext cx="7498080" cy="640080"/>
            <a:chOff x="0" y="0"/>
            <a:chExt cx="999744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parse sai DD/MM vs MM/DD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149840" y="2852928"/>
            <a:ext cx="7498080" cy="768096"/>
            <a:chOff x="0" y="0"/>
            <a:chExt cx="999744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Thêm dayfirst=True trong pd.to_datetime()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4183" y="3754631"/>
            <a:ext cx="8437883" cy="1525019"/>
            <a:chOff x="0" y="0"/>
            <a:chExt cx="11250511" cy="20333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314183" y="3754631"/>
            <a:ext cx="720347" cy="1525019"/>
            <a:chOff x="0" y="0"/>
            <a:chExt cx="960463" cy="203335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326880" y="3767328"/>
            <a:ext cx="694944" cy="1499616"/>
            <a:chOff x="0" y="0"/>
            <a:chExt cx="926592" cy="1999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149840" y="3803904"/>
            <a:ext cx="7498080" cy="640080"/>
            <a:chOff x="0" y="0"/>
            <a:chExt cx="999744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 MA4 bị lẫn giữa các Store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149840" y="4462272"/>
            <a:ext cx="7498080" cy="768096"/>
            <a:chOff x="0" y="0"/>
            <a:chExt cx="999744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Dùng groupby('Store').transform() thay vì rolling thẳng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14183" y="5363975"/>
            <a:ext cx="8437883" cy="1525019"/>
            <a:chOff x="0" y="0"/>
            <a:chExt cx="11250511" cy="20333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314183" y="5363975"/>
            <a:ext cx="720347" cy="1525019"/>
            <a:chOff x="0" y="0"/>
            <a:chExt cx="960463" cy="20333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5376672"/>
            <a:ext cx="694944" cy="1499616"/>
            <a:chOff x="0" y="0"/>
            <a:chExt cx="926592" cy="19994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49840" y="5413248"/>
            <a:ext cx="7498080" cy="640080"/>
            <a:chOff x="0" y="0"/>
            <a:chExt cx="999744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không lưu được datetime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149840" y="6071616"/>
            <a:ext cx="7498080" cy="768096"/>
            <a:chOff x="0" y="0"/>
            <a:chExt cx="9997440" cy="10241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Chuyển Date về string trước to_sql()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14183" y="6973319"/>
            <a:ext cx="8437883" cy="1525019"/>
            <a:chOff x="0" y="0"/>
            <a:chExt cx="11250511" cy="203335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314183" y="6973319"/>
            <a:ext cx="720347" cy="1525019"/>
            <a:chOff x="0" y="0"/>
            <a:chExt cx="960463" cy="20333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326880" y="6986016"/>
            <a:ext cx="694944" cy="1499616"/>
            <a:chOff x="0" y="0"/>
            <a:chExt cx="926592" cy="19994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49840" y="7022592"/>
            <a:ext cx="7498080" cy="640080"/>
            <a:chOff x="0" y="0"/>
            <a:chExt cx="999744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Biểu đồ bị cắt khi lưu PNG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149840" y="7680960"/>
            <a:ext cx="7498080" cy="768096"/>
            <a:chOff x="0" y="0"/>
            <a:chExt cx="999744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Dùng plt.tight_layout() + bbox_inches='tight'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14183" y="8582663"/>
            <a:ext cx="8437883" cy="1525019"/>
            <a:chOff x="0" y="0"/>
            <a:chExt cx="11250511" cy="20333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314183" y="8582663"/>
            <a:ext cx="720347" cy="1525019"/>
            <a:chOff x="0" y="0"/>
            <a:chExt cx="960463" cy="203335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8595360"/>
            <a:ext cx="694944" cy="1499616"/>
            <a:chOff x="0" y="0"/>
            <a:chExt cx="926592" cy="1999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149840" y="8631936"/>
            <a:ext cx="7498080" cy="640080"/>
            <a:chOff x="0" y="0"/>
            <a:chExt cx="999744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underfits đỉnh tuần lễ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149840" y="9290304"/>
            <a:ext cx="7498080" cy="768096"/>
            <a:chOff x="0" y="0"/>
            <a:chExt cx="999744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Giữ nguyên; ghi chú hạn chế trong báo cáo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VII. KẾ HOẠCH &amp; ĐÁNH GIÁ NHÓM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18823" y="1690243"/>
          <a:ext cx="16789400" cy="3051175"/>
        </p:xfrm>
        <a:graphic>
          <a:graphicData uri="http://schemas.openxmlformats.org/drawingml/2006/table">
            <a:tbl>
              <a:tblPr/>
              <a:tblGrid>
                <a:gridCol w="1113583"/>
                <a:gridCol w="4015952"/>
                <a:gridCol w="2746165"/>
                <a:gridCol w="8913700"/>
              </a:tblGrid>
              <a:tr h="762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Họ và tên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Vai trò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Công việc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Nguyễn Thị Trâm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Trưởng nhóm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công, điều phối, code Phase 1–7,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Lâm Khả Ái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Thành viên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Code Phase 1–7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Trần Thị Yến Nhi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Thành viên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Code Phase 1–7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731520" y="5046218"/>
            <a:ext cx="16824960" cy="953724"/>
            <a:chOff x="0" y="0"/>
            <a:chExt cx="22433280" cy="1271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71632"/>
            </a:xfrm>
            <a:custGeom>
              <a:avLst/>
              <a:gdLst/>
              <a:ahLst/>
              <a:cxnLst/>
              <a:rect r="r" b="b" t="t" l="l"/>
              <a:pathLst>
                <a:path h="1271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71632"/>
                  </a:lnTo>
                  <a:lnTo>
                    <a:pt x="0" y="1271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85" r="0" b="-2772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33280" cy="1357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KẾT DỰ ÁN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6022343"/>
            <a:ext cx="6974843" cy="720347"/>
            <a:chOff x="0" y="0"/>
            <a:chExt cx="9299791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6035040"/>
            <a:ext cx="6583680" cy="694944"/>
            <a:chOff x="0" y="0"/>
            <a:chExt cx="877824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7782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Mức độ hoàn thành pipeline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1143" y="6022343"/>
            <a:ext cx="9718043" cy="720347"/>
            <a:chOff x="0" y="0"/>
            <a:chExt cx="12957391" cy="9604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012435" y="6035040"/>
            <a:ext cx="9395460" cy="694944"/>
            <a:chOff x="0" y="0"/>
            <a:chExt cx="1252728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100% – 7 phases đầy đủ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6827015"/>
            <a:ext cx="6974843" cy="720347"/>
            <a:chOff x="0" y="0"/>
            <a:chExt cx="9299791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6839712"/>
            <a:ext cx="6583680" cy="694944"/>
            <a:chOff x="0" y="0"/>
            <a:chExt cx="87782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7782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Chất lượng phân tích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51143" y="6827015"/>
            <a:ext cx="9718043" cy="720347"/>
            <a:chOff x="0" y="0"/>
            <a:chExt cx="1295739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85696" y="6852418"/>
            <a:ext cx="9151747" cy="694944"/>
            <a:chOff x="0" y="0"/>
            <a:chExt cx="12202330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02330" cy="926592"/>
            </a:xfrm>
            <a:custGeom>
              <a:avLst/>
              <a:gdLst/>
              <a:ahLst/>
              <a:cxnLst/>
              <a:rect r="r" b="b" t="t" l="l"/>
              <a:pathLst>
                <a:path h="926592" w="12202330">
                  <a:moveTo>
                    <a:pt x="0" y="0"/>
                  </a:moveTo>
                  <a:lnTo>
                    <a:pt x="12202330" y="0"/>
                  </a:lnTo>
                  <a:lnTo>
                    <a:pt x="1220233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5910" b="-2217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220233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8 biểu đồ + phân tích  chi tiết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8823" y="7631687"/>
            <a:ext cx="6974843" cy="720347"/>
            <a:chOff x="0" y="0"/>
            <a:chExt cx="9299791" cy="9604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7644384"/>
            <a:ext cx="6583680" cy="976238"/>
            <a:chOff x="0" y="0"/>
            <a:chExt cx="8778240" cy="13016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</a:t>
              </a: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hình ML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51143" y="7631687"/>
            <a:ext cx="9718043" cy="720347"/>
            <a:chOff x="0" y="0"/>
            <a:chExt cx="12957391" cy="9604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985696" y="7671187"/>
            <a:ext cx="9395460" cy="976238"/>
            <a:chOff x="0" y="0"/>
            <a:chExt cx="12527280" cy="13016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27280" cy="1301650"/>
            </a:xfrm>
            <a:custGeom>
              <a:avLst/>
              <a:gdLst/>
              <a:ahLst/>
              <a:cxnLst/>
              <a:rect r="r" b="b" t="t" l="l"/>
              <a:pathLst>
                <a:path h="130165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65" r="-3163" b="-1290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252728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3 mô hình, chọn Gradient Boosting là tốt nhất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8436359"/>
            <a:ext cx="6974843" cy="720347"/>
            <a:chOff x="0" y="0"/>
            <a:chExt cx="9299791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8449056"/>
            <a:ext cx="6583680" cy="976238"/>
            <a:chOff x="0" y="0"/>
            <a:chExt cx="8778240" cy="13016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hất lượng code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51143" y="8436359"/>
            <a:ext cx="9718043" cy="720347"/>
            <a:chOff x="0" y="0"/>
            <a:chExt cx="1295739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012435" y="8522693"/>
            <a:ext cx="9395460" cy="694944"/>
            <a:chOff x="0" y="0"/>
            <a:chExt cx="1252728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Comment đầy đủ, chạy được trên Google Colab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8823" y="9241031"/>
            <a:ext cx="6974843" cy="720347"/>
            <a:chOff x="0" y="0"/>
            <a:chExt cx="9299791" cy="9604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5" y="9310762"/>
            <a:ext cx="6583680" cy="976238"/>
            <a:chOff x="0" y="0"/>
            <a:chExt cx="8778240" cy="13016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độ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851143" y="9241031"/>
            <a:ext cx="9718043" cy="720347"/>
            <a:chOff x="0" y="0"/>
            <a:chExt cx="12957391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985696" y="9253733"/>
            <a:ext cx="9395460" cy="694944"/>
            <a:chOff x="0" y="0"/>
            <a:chExt cx="1252728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Hoàn thành đúng deadline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4262" y="1028700"/>
            <a:ext cx="12741464" cy="8043049"/>
          </a:xfrm>
          <a:custGeom>
            <a:avLst/>
            <a:gdLst/>
            <a:ahLst/>
            <a:cxnLst/>
            <a:rect r="r" b="b" t="t" l="l"/>
            <a:pathLst>
              <a:path h="8043049" w="12741464">
                <a:moveTo>
                  <a:pt x="0" y="0"/>
                </a:moveTo>
                <a:lnTo>
                  <a:pt x="12741465" y="0"/>
                </a:lnTo>
                <a:lnTo>
                  <a:pt x="12741465" y="8043049"/>
                </a:lnTo>
                <a:lnTo>
                  <a:pt x="0" y="8043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500" y="3382297"/>
            <a:ext cx="3612043" cy="145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308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https://github.com/TramSt/data_engineer_introduction_2026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0"/>
            <a:ext cx="16459200" cy="2194560"/>
            <a:chOff x="0" y="0"/>
            <a:chExt cx="2194560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21945600" cy="308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CẢM ƠN THẦY VÀ CÁC BẠN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4206240"/>
            <a:ext cx="16459200" cy="1463040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2194560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LẮNG NGHE!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8103" y="5839463"/>
            <a:ext cx="5511803" cy="116843"/>
            <a:chOff x="0" y="0"/>
            <a:chExt cx="7349071" cy="155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9109" cy="155829"/>
            </a:xfrm>
            <a:custGeom>
              <a:avLst/>
              <a:gdLst/>
              <a:ahLst/>
              <a:cxnLst/>
              <a:rect r="r" b="b" t="t" l="l"/>
              <a:pathLst>
                <a:path h="1558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126480"/>
            <a:ext cx="16459200" cy="822960"/>
            <a:chOff x="0" y="0"/>
            <a:chExt cx="21945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8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2  –  Walmart Retail Data Pipeline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704088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7AAB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Nguyễn Thị Trâm</a:t>
              </a:r>
              <a:r>
                <a:rPr lang="en-US" sz="2600" i="true">
                  <a:solidFill>
                    <a:srgbClr val="7AAB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 |  Lâm Khả Ái | Trần Thị Yến Nhi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955280"/>
            <a:ext cx="16459200" cy="640080"/>
            <a:chOff x="0" y="0"/>
            <a:chExt cx="219456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A7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kaggle.com/datasets/yasserh/walmart-dataset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DAHJC4YZ1H4</dc:identifier>
  <dcterms:modified xsi:type="dcterms:W3CDTF">2011-08-01T06:04:30Z</dcterms:modified>
  <cp:revision>1</cp:revision>
  <dc:title>Nhom2_Walmart_DataPipeline.pptx</dc:title>
</cp:coreProperties>
</file>